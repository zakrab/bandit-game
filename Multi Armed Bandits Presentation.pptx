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iQEi9hsY7oMGTLSCeS5e7P8BTS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805DD6-8B26-4B87-9A57-E4426935DDBD}">
  <a:tblStyle styleId="{C7805DD6-8B26-4B87-9A57-E4426935DDB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28e80be46_0_7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d28e80be46_0_7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WILSON — 0:00-1:00</a:t>
            </a:r>
            <a:br>
              <a:rPr lang="en-US"/>
            </a:br>
            <a:r>
              <a:rPr lang="en-US"/>
              <a:t>• Welcome everyone, introduce the team</a:t>
            </a:r>
            <a:br>
              <a:rPr lang="en-US"/>
            </a:br>
            <a:r>
              <a:rPr lang="en-US"/>
              <a:t>• Today's topic: making optimal decisions when you don't know which option is best</a:t>
            </a:r>
            <a:br>
              <a:rPr lang="en-US"/>
            </a:br>
            <a:r>
              <a:rPr lang="en-US"/>
              <a:t>• Real-world stakes: Google A/B tests, clinical trials, investment strategy</a:t>
            </a:r>
            <a:br>
              <a:rPr lang="en-US"/>
            </a:br>
            <a:r>
              <a:rPr lang="en-US"/>
              <a:t>• Tease the interactive game — they'll be playing on their phones</a:t>
            </a:r>
            <a:br>
              <a:rPr lang="en-US"/>
            </a:br>
            <a:r>
              <a:rPr lang="en-US"/>
              <a:t>• Set energy: this is a workshop, not a lecture — participation matters</a:t>
            </a:r>
            <a:endParaRPr/>
          </a:p>
        </p:txBody>
      </p:sp>
      <p:sp>
        <p:nvSpPr>
          <p:cNvPr id="14" name="Google Shape;14;g3d28e80be46_0_7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d28e80be46_0_7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g3d28e80be46_0_7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WILSON — 1:00-2:30</a:t>
            </a:r>
            <a:br>
              <a:rPr lang="en-US"/>
            </a:br>
            <a:r>
              <a:rPr lang="en-US"/>
              <a:t>• Frame the core dilemma: exploit vs explore vs mix</a:t>
            </a:r>
            <a:br>
              <a:rPr lang="en-US"/>
            </a:br>
            <a:r>
              <a:rPr lang="en-US"/>
              <a:t>• Give everyday examples: picking restaurants, choosing jobs, dating</a:t>
            </a:r>
            <a:br>
              <a:rPr lang="en-US"/>
            </a:br>
            <a:r>
              <a:rPr lang="en-US"/>
              <a:t>• Business examples: which website design converts better? which ad to show?</a:t>
            </a:r>
            <a:br>
              <a:rPr lang="en-US"/>
            </a:br>
            <a:r>
              <a:rPr lang="en-US"/>
              <a:t>• Medical: which treatment saves more lives — do you keep testing or commit?</a:t>
            </a:r>
            <a:br>
              <a:rPr lang="en-US"/>
            </a:br>
            <a:r>
              <a:rPr lang="en-US"/>
              <a:t>• Key point: today we solve this for student networking, but these principles are universal</a:t>
            </a:r>
            <a:br>
              <a:rPr lang="en-US"/>
            </a:br>
            <a:r>
              <a:rPr lang="en-US"/>
              <a:t>• Ask audience: 'Who's ever stuck with a restaurant they know instead of trying somewhere new?' — that's exploitation</a:t>
            </a:r>
            <a:br>
              <a:rPr lang="en-US"/>
            </a:br>
            <a:r>
              <a:rPr lang="en-US"/>
              <a:t>• Pause on each card — let them absorb the three options</a:t>
            </a:r>
            <a:endParaRPr/>
          </a:p>
        </p:txBody>
      </p:sp>
      <p:sp>
        <p:nvSpPr>
          <p:cNvPr id="26" name="Google Shape;26;g3d28e80be46_0_7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d28e80be46_0_7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d28e80be46_0_7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WILSON — 2:30-4:00</a:t>
            </a:r>
            <a:br>
              <a:rPr lang="en-US"/>
            </a:br>
            <a:r>
              <a:rPr lang="en-US"/>
              <a:t>• 'Pull out your phones and scan this'</a:t>
            </a:r>
            <a:br>
              <a:rPr lang="en-US"/>
            </a:br>
            <a:r>
              <a:rPr lang="en-US"/>
              <a:t>• Read the URL out loud as backup for anyone who can't scan</a:t>
            </a:r>
            <a:br>
              <a:rPr lang="en-US"/>
            </a:br>
            <a:r>
              <a:rPr lang="en-US"/>
              <a:t>• Wait 60-90 seconds — don't rush this, let everyone get loaded in</a:t>
            </a:r>
            <a:br>
              <a:rPr lang="en-US"/>
            </a:br>
            <a:r>
              <a:rPr lang="en-US"/>
              <a:t>• Walk around and help anyone having trouble connecting</a:t>
            </a:r>
            <a:br>
              <a:rPr lang="en-US"/>
            </a:br>
            <a:r>
              <a:rPr lang="en-US"/>
              <a:t>• Confirm people are seeing their assigned persona on screen</a:t>
            </a:r>
            <a:br>
              <a:rPr lang="en-US"/>
            </a:br>
            <a:r>
              <a:rPr lang="en-US"/>
              <a:t>• 'Don't share your persona with anyone yet — that matters later'</a:t>
            </a:r>
            <a:endParaRPr/>
          </a:p>
        </p:txBody>
      </p:sp>
      <p:sp>
        <p:nvSpPr>
          <p:cNvPr id="46" name="Google Shape;46;g3d28e80be46_0_7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d28e80be46_0_7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d28e80be46_0_7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LANCE — 4:00-5:00</a:t>
            </a:r>
            <a:br>
              <a:rPr lang="en-US"/>
            </a:br>
            <a:r>
              <a:rPr lang="en-US"/>
              <a:t>• Explain the scenario: you're a student trying to build your professional network</a:t>
            </a:r>
            <a:br>
              <a:rPr lang="en-US"/>
            </a:br>
            <a:r>
              <a:rPr lang="en-US"/>
              <a:t>• 4 types of connections — each has a HIDDEN response rate unique to your persona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the</a:t>
            </a:r>
            <a:br>
              <a:rPr lang="en-US"/>
            </a:br>
            <a:r>
              <a:rPr lang="en-US"/>
              <a:t>• 3 rounds, 4 attempts each = 12 total tries to maximize connections</a:t>
            </a:r>
            <a:br>
              <a:rPr lang="en-US"/>
            </a:br>
            <a:r>
              <a:rPr lang="en-US"/>
              <a:t>• Emphasize: the rates are different for different people — what works for you might not work for someone else</a:t>
            </a:r>
            <a:br>
              <a:rPr lang="en-US"/>
            </a:br>
            <a:r>
              <a:rPr lang="en-US"/>
              <a:t>• 'Your phone assigned you a persona with a specific major and goal — keep it secret'</a:t>
            </a:r>
            <a:br>
              <a:rPr lang="en-US"/>
            </a:br>
            <a:r>
              <a:rPr lang="en-US"/>
              <a:t>• Connect to real life: this is like deciding which networking events to attend or which LinkedIn messages to send</a:t>
            </a:r>
            <a:endParaRPr/>
          </a:p>
        </p:txBody>
      </p:sp>
      <p:sp>
        <p:nvSpPr>
          <p:cNvPr id="57" name="Google Shape;57;g3d28e80be46_0_7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28e80be46_0_8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d28e80be46_0_8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LANCE — 5:00-5:30</a:t>
            </a:r>
            <a:br>
              <a:rPr lang="en-US"/>
            </a:br>
            <a:r>
              <a:rPr lang="en-US"/>
              <a:t>• Walk through each of the 4 connection types briefly</a:t>
            </a:r>
            <a:br>
              <a:rPr lang="en-US"/>
            </a:br>
            <a:r>
              <a:rPr lang="en-US"/>
              <a:t>• Your Major: people in your exact field — feels safe and familiar</a:t>
            </a:r>
            <a:br>
              <a:rPr lang="en-US"/>
            </a:br>
            <a:r>
              <a:rPr lang="en-US"/>
              <a:t>• Adjacent Fields: related but different — some overlap</a:t>
            </a:r>
            <a:br>
              <a:rPr lang="en-US"/>
            </a:br>
            <a:r>
              <a:rPr lang="en-US"/>
              <a:t>• Different Colleges: totally different area — high risk, maybe high reward</a:t>
            </a:r>
            <a:br>
              <a:rPr lang="en-US"/>
            </a:br>
            <a:r>
              <a:rPr lang="en-US"/>
              <a:t>• Alumni/Pros: people who've already graduated — industry connections</a:t>
            </a:r>
            <a:br>
              <a:rPr lang="en-US"/>
            </a:br>
            <a:r>
              <a:rPr lang="en-US"/>
              <a:t>• 'Which is best? That's the whole point — you don't know yet'</a:t>
            </a:r>
            <a:br>
              <a:rPr lang="en-US"/>
            </a:br>
            <a:r>
              <a:rPr lang="en-US"/>
              <a:t>• Transition to Round 1: 'No strategy yet, just go with your gut — pick whatever feels right'</a:t>
            </a:r>
            <a:endParaRPr/>
          </a:p>
        </p:txBody>
      </p:sp>
      <p:sp>
        <p:nvSpPr>
          <p:cNvPr id="79" name="Google Shape;79;g3d28e80be46_0_8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28e80be46_0_8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d28e80be46_0_8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ZAK — 5:30-8:30 (3 min gameplay)</a:t>
            </a:r>
            <a:br>
              <a:rPr lang="en-US"/>
            </a:br>
            <a:r>
              <a:rPr lang="en-US"/>
              <a:t>• Switch to the live game dashboard on the projector</a:t>
            </a:r>
            <a:br>
              <a:rPr lang="en-US"/>
            </a:br>
            <a:r>
              <a:rPr lang="en-US"/>
              <a:t>• Narrate what you see live:</a:t>
            </a:r>
            <a:br>
              <a:rPr lang="en-US"/>
            </a:br>
            <a:r>
              <a:rPr lang="en-US"/>
              <a:t>  - 'Looks like most people going with Your Major — safe choice'</a:t>
            </a:r>
            <a:br>
              <a:rPr lang="en-US"/>
            </a:br>
            <a:r>
              <a:rPr lang="en-US"/>
              <a:t>  - 'A few brave souls trying Different Colleges'</a:t>
            </a:r>
            <a:br>
              <a:rPr lang="en-US"/>
            </a:br>
            <a:r>
              <a:rPr lang="en-US"/>
              <a:t>  - Call out any interesting patterns in the data</a:t>
            </a:r>
            <a:br>
              <a:rPr lang="en-US"/>
            </a:br>
            <a:r>
              <a:rPr lang="en-US"/>
              <a:t>• Keep energy up — react to successes and failures</a:t>
            </a:r>
            <a:br>
              <a:rPr lang="en-US"/>
            </a:br>
            <a:r>
              <a:rPr lang="en-US"/>
              <a:t>• After all 4 attempts: read the class average out loud from dashboard</a:t>
            </a:r>
            <a:br>
              <a:rPr lang="en-US"/>
            </a:br>
            <a:r>
              <a:rPr lang="en-US"/>
              <a:t>• 'Okay, not bad — but what if I told you there's a strategy that could do better?'</a:t>
            </a:r>
            <a:br>
              <a:rPr lang="en-US"/>
            </a:br>
            <a:r>
              <a:rPr lang="en-US"/>
              <a:t>• Switch back to slides</a:t>
            </a:r>
            <a:endParaRPr/>
          </a:p>
        </p:txBody>
      </p:sp>
      <p:sp>
        <p:nvSpPr>
          <p:cNvPr id="107" name="Google Shape;107;g3d28e80be46_0_8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28e80be46_0_8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d28e80be46_0_8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TATUM — 8:30-10:00</a:t>
            </a:r>
            <a:br>
              <a:rPr lang="en-US"/>
            </a:br>
            <a:r>
              <a:rPr lang="en-US"/>
              <a:t>• Introduce Epsilon-Greedy as the first real strategy</a:t>
            </a:r>
            <a:br>
              <a:rPr lang="en-US"/>
            </a:br>
            <a:r>
              <a:rPr lang="en-US"/>
              <a:t>• The rule is simple: 80% of the time pick your best option, 20% try something random</a:t>
            </a:r>
            <a:br>
              <a:rPr lang="en-US"/>
            </a:br>
            <a:r>
              <a:rPr lang="en-US"/>
              <a:t>• Why 80/20? You mostly do what works, but you never stop learning</a:t>
            </a:r>
            <a:br>
              <a:rPr lang="en-US"/>
            </a:br>
            <a:r>
              <a:rPr lang="en-US"/>
              <a:t>• 'Look at your phone — it shows YOUR results from Round 1'</a:t>
            </a:r>
            <a:br>
              <a:rPr lang="en-US"/>
            </a:br>
            <a:r>
              <a:rPr lang="en-US"/>
              <a:t>• Ask: 'Which connection type had the highest success rate for you?'</a:t>
            </a:r>
            <a:br>
              <a:rPr lang="en-US"/>
            </a:br>
            <a:r>
              <a:rPr lang="en-US"/>
              <a:t>• That's your 'best so far' — you'll pick it most of the time</a:t>
            </a:r>
            <a:br>
              <a:rPr lang="en-US"/>
            </a:br>
            <a:r>
              <a:rPr lang="en-US"/>
              <a:t>• Key benefit: guaranteed you won't get stuck on a bad option forever</a:t>
            </a:r>
            <a:br>
              <a:rPr lang="en-US"/>
            </a:br>
            <a:r>
              <a:rPr lang="en-US"/>
              <a:t>• Real world: Amazon uses this to decide which ads to show you right now</a:t>
            </a:r>
            <a:endParaRPr/>
          </a:p>
        </p:txBody>
      </p:sp>
      <p:sp>
        <p:nvSpPr>
          <p:cNvPr id="117" name="Google Shape;117;g3d28e80be46_0_8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28e80be46_0_8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d28e80be46_0_8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TATUM — 10:00-10:30</a:t>
            </a:r>
            <a:br>
              <a:rPr lang="en-US"/>
            </a:br>
            <a:r>
              <a:rPr lang="en-US"/>
              <a:t>• Walk through the concrete example on screen</a:t>
            </a:r>
            <a:br>
              <a:rPr lang="en-US"/>
            </a:br>
            <a:r>
              <a:rPr lang="en-US"/>
              <a:t>• 'Say you tried Different Colleges once and it worked — that's 100%, your best'</a:t>
            </a:r>
            <a:br>
              <a:rPr lang="en-US"/>
            </a:br>
            <a:r>
              <a:rPr lang="en-US"/>
              <a:t>• 'For Round 2: pick Different 3 out of 4 times (exploit), try something random once (explore)'</a:t>
            </a:r>
            <a:br>
              <a:rPr lang="en-US"/>
            </a:br>
            <a:r>
              <a:rPr lang="en-US"/>
              <a:t>• Emphasize: everyone's 'best' will be different based on Round 1 results</a:t>
            </a:r>
            <a:br>
              <a:rPr lang="en-US"/>
            </a:br>
            <a:r>
              <a:rPr lang="en-US"/>
              <a:t>• Ask: 'What if you tied? Pick either one — doesn't matter, you'll learn more this round'</a:t>
            </a:r>
            <a:br>
              <a:rPr lang="en-US"/>
            </a:br>
            <a:r>
              <a:rPr lang="en-US"/>
              <a:t>• 'The random exploration is key — you might stumble onto something even better'</a:t>
            </a:r>
            <a:endParaRPr/>
          </a:p>
        </p:txBody>
      </p:sp>
      <p:sp>
        <p:nvSpPr>
          <p:cNvPr id="137" name="Google Shape;137;g3d28e80be46_0_8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28e80be46_0_8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d28e80be46_0_8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TATUM — 10:30-11:00</a:t>
            </a:r>
            <a:br>
              <a:rPr lang="en-US"/>
            </a:br>
            <a:r>
              <a:rPr lang="en-US"/>
              <a:t>• Show the pseudocode — don't read it line by line, just explain the flow</a:t>
            </a:r>
            <a:br>
              <a:rPr lang="en-US"/>
            </a:br>
            <a:r>
              <a:rPr lang="en-US"/>
              <a:t>• 'Calculate success rate for each type, then flip a coin basically'</a:t>
            </a:r>
            <a:br>
              <a:rPr lang="en-US"/>
            </a:br>
            <a:r>
              <a:rPr lang="en-US"/>
              <a:t>• 20% chance → random pick, 80% chance → pick the best</a:t>
            </a:r>
            <a:br>
              <a:rPr lang="en-US"/>
            </a:br>
            <a:r>
              <a:rPr lang="en-US"/>
              <a:t>• O(k) per decision — super fast, k is just the number of options (4 for us)</a:t>
            </a:r>
            <a:br>
              <a:rPr lang="en-US"/>
            </a:br>
            <a:r>
              <a:rPr lang="en-US"/>
              <a:t>• Used in production at Amazon and Facebook — this is real, not just theory</a:t>
            </a:r>
            <a:br>
              <a:rPr lang="en-US"/>
            </a:br>
            <a:r>
              <a:rPr lang="en-US"/>
              <a:t>• Transition: 'Alright, let's see if this actually helps — Round 2, apply epsilon-greedy, GO'</a:t>
            </a:r>
            <a:br>
              <a:rPr lang="en-US"/>
            </a:br>
            <a:r>
              <a:rPr lang="en-US"/>
              <a:t>• Hand off to Zak for gameplay</a:t>
            </a:r>
            <a:endParaRPr/>
          </a:p>
        </p:txBody>
      </p:sp>
      <p:sp>
        <p:nvSpPr>
          <p:cNvPr id="150" name="Google Shape;150;g3d28e80be46_0_8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28e80be46_0_8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d28e80be46_0_8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ZAK — 11:00-14:00 (3 min gameplay)</a:t>
            </a:r>
            <a:br>
              <a:rPr lang="en-US"/>
            </a:br>
            <a:r>
              <a:rPr lang="en-US"/>
              <a:t>• Switch to live game dashboard</a:t>
            </a:r>
            <a:br>
              <a:rPr lang="en-US"/>
            </a:br>
            <a:r>
              <a:rPr lang="en-US"/>
              <a:t>• Compare to Round 1 as people play:</a:t>
            </a:r>
            <a:br>
              <a:rPr lang="en-US"/>
            </a:br>
            <a:r>
              <a:rPr lang="en-US"/>
              <a:t>  - 'Seeing more concentrated choices now — people exploiting their best'</a:t>
            </a:r>
            <a:br>
              <a:rPr lang="en-US"/>
            </a:br>
            <a:r>
              <a:rPr lang="en-US"/>
              <a:t>  - 'But still some random exploration happening — good!'</a:t>
            </a:r>
            <a:br>
              <a:rPr lang="en-US"/>
            </a:br>
            <a:r>
              <a:rPr lang="en-US"/>
              <a:t>  - Note if the choice distribution shifted from Round 1</a:t>
            </a:r>
            <a:br>
              <a:rPr lang="en-US"/>
            </a:br>
            <a:r>
              <a:rPr lang="en-US"/>
              <a:t>• After all 4 attempts: announce Round 2 average</a:t>
            </a:r>
            <a:br>
              <a:rPr lang="en-US"/>
            </a:br>
            <a:r>
              <a:rPr lang="en-US"/>
              <a:t>• Compare to Round 1: 'We went from X to Y — strategy is working!'</a:t>
            </a:r>
            <a:br>
              <a:rPr lang="en-US"/>
            </a:br>
            <a:r>
              <a:rPr lang="en-US"/>
              <a:t>• Tease: 'But epsilon-greedy has a flaw... there's a smarter approach'</a:t>
            </a:r>
            <a:br>
              <a:rPr lang="en-US"/>
            </a:br>
            <a:r>
              <a:rPr lang="en-US"/>
              <a:t>• Switch back to slides</a:t>
            </a:r>
            <a:endParaRPr/>
          </a:p>
        </p:txBody>
      </p:sp>
      <p:sp>
        <p:nvSpPr>
          <p:cNvPr id="166" name="Google Shape;166;g3d28e80be46_0_8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28e80be46_0_8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d28e80be46_0_8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KENNY — 14:00-15:00</a:t>
            </a:r>
            <a:br>
              <a:rPr lang="en-US"/>
            </a:br>
            <a:r>
              <a:rPr lang="en-US"/>
              <a:t>• 'Epsilon-greedy has a problem — it treats all unknowns the same'</a:t>
            </a:r>
            <a:br>
              <a:rPr lang="en-US"/>
            </a:br>
            <a:r>
              <a:rPr lang="en-US"/>
              <a:t>• Walk through the two cards:</a:t>
            </a:r>
            <a:br>
              <a:rPr lang="en-US"/>
            </a:br>
            <a:r>
              <a:rPr lang="en-US"/>
              <a:t>  - Alumni: tried 5 times, 1 success → you're pretty confident it's ~20%. Not great.</a:t>
            </a:r>
            <a:br>
              <a:rPr lang="en-US"/>
            </a:br>
            <a:r>
              <a:rPr lang="en-US"/>
              <a:t>  - Different: tried 1 time, 1 success → 100% rate, but that could be total luck!</a:t>
            </a:r>
            <a:br>
              <a:rPr lang="en-US"/>
            </a:br>
            <a:r>
              <a:rPr lang="en-US"/>
              <a:t>• The key question: should you explore 'Different' more? YES — you're uncertain about it</a:t>
            </a:r>
            <a:br>
              <a:rPr lang="en-US"/>
            </a:br>
            <a:r>
              <a:rPr lang="en-US"/>
              <a:t>• But epsilon-greedy doesn't care about uncertainty — it just picks randomly 20% of the time</a:t>
            </a:r>
            <a:br>
              <a:rPr lang="en-US"/>
            </a:br>
            <a:r>
              <a:rPr lang="en-US"/>
              <a:t>• Thompson's insight: BE OPTIMISTIC ABOUT UNCERTAINTY</a:t>
            </a:r>
            <a:br>
              <a:rPr lang="en-US"/>
            </a:br>
            <a:r>
              <a:rPr lang="en-US"/>
              <a:t>• If you're unsure about something, give it a chance — it might be gold</a:t>
            </a:r>
            <a:br>
              <a:rPr lang="en-US"/>
            </a:br>
            <a:r>
              <a:rPr lang="en-US"/>
              <a:t>• This is the intuition behind Thompson Sampling</a:t>
            </a:r>
            <a:endParaRPr/>
          </a:p>
        </p:txBody>
      </p:sp>
      <p:sp>
        <p:nvSpPr>
          <p:cNvPr id="176" name="Google Shape;176;g3d28e80be46_0_8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28e80be46_0_9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d28e80be46_0_9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KENNY — 15:00-16:00</a:t>
            </a:r>
            <a:br>
              <a:rPr lang="en-US"/>
            </a:br>
            <a:r>
              <a:rPr lang="en-US"/>
              <a:t>• 'We model each option as a probability distribution using the Beta distribution'</a:t>
            </a:r>
            <a:br>
              <a:rPr lang="en-US"/>
            </a:br>
            <a:r>
              <a:rPr lang="en-US"/>
              <a:t>• Don't get bogged down in math — focus on the intuition:</a:t>
            </a:r>
            <a:br>
              <a:rPr lang="en-US"/>
            </a:br>
            <a:r>
              <a:rPr lang="en-US"/>
              <a:t>  - More data → narrower distribution → more confident</a:t>
            </a:r>
            <a:br>
              <a:rPr lang="en-US"/>
            </a:br>
            <a:r>
              <a:rPr lang="en-US"/>
              <a:t>  - Less data → wider distribution → more uncertain</a:t>
            </a:r>
            <a:br>
              <a:rPr lang="en-US"/>
            </a:br>
            <a:r>
              <a:rPr lang="en-US"/>
              <a:t>• Alumni example: tried 5 times, narrow curve, you KNOW it's around 20%</a:t>
            </a:r>
            <a:br>
              <a:rPr lang="en-US"/>
            </a:br>
            <a:r>
              <a:rPr lang="en-US"/>
              <a:t>• Different example: tried once, wide curve — could be anywhere from 10% to 90%!</a:t>
            </a:r>
            <a:br>
              <a:rPr lang="en-US"/>
            </a:br>
            <a:r>
              <a:rPr lang="en-US"/>
              <a:t>• The algorithm: take a random sample from each distribution, pick the highest</a:t>
            </a:r>
            <a:br>
              <a:rPr lang="en-US"/>
            </a:br>
            <a:r>
              <a:rPr lang="en-US"/>
              <a:t>• Why this works: uncertain options sometimes sample HIGH, so you naturally explore them</a:t>
            </a:r>
            <a:br>
              <a:rPr lang="en-US"/>
            </a:br>
            <a:r>
              <a:rPr lang="en-US"/>
              <a:t>• Confident good options stay high, so you naturally exploit them</a:t>
            </a:r>
            <a:br>
              <a:rPr lang="en-US"/>
            </a:br>
            <a:r>
              <a:rPr lang="en-US"/>
              <a:t>• 'The math automatically balances explore vs exploit for you'</a:t>
            </a:r>
            <a:endParaRPr/>
          </a:p>
        </p:txBody>
      </p:sp>
      <p:sp>
        <p:nvSpPr>
          <p:cNvPr id="196" name="Google Shape;196;g3d28e80be46_0_9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28e80be46_0_9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d28e80be46_0_9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KENNY — 16:00-16:30</a:t>
            </a:r>
            <a:br>
              <a:rPr lang="en-US"/>
            </a:br>
            <a:r>
              <a:rPr lang="en-US"/>
              <a:t>• Walk through the pseudocode quickly — it's actually simpler than epsilon-greedy</a:t>
            </a:r>
            <a:br>
              <a:rPr lang="en-US"/>
            </a:br>
            <a:r>
              <a:rPr lang="en-US"/>
              <a:t>• Alpha = successes + 1, Beta = failures + 1, sample from Beta distribution</a:t>
            </a:r>
            <a:br>
              <a:rPr lang="en-US"/>
            </a:br>
            <a:r>
              <a:rPr lang="en-US"/>
              <a:t>• Pick whichever sampled highest — that's it</a:t>
            </a:r>
            <a:br>
              <a:rPr lang="en-US"/>
            </a:br>
            <a:r>
              <a:rPr lang="en-US"/>
              <a:t>• Key stats to emphasize:</a:t>
            </a:r>
            <a:br>
              <a:rPr lang="en-US"/>
            </a:br>
            <a:r>
              <a:rPr lang="en-US"/>
              <a:t>  - O(k) per decision — same speed as epsilon-greedy</a:t>
            </a:r>
            <a:br>
              <a:rPr lang="en-US"/>
            </a:br>
            <a:r>
              <a:rPr lang="en-US"/>
              <a:t>  - O(log T) regret — PROVABLY near-optimal, way better than epsilon-greedy</a:t>
            </a:r>
            <a:br>
              <a:rPr lang="en-US"/>
            </a:br>
            <a:r>
              <a:rPr lang="en-US"/>
              <a:t>• Name-drop where it's used: Netflix recommendations, Google experiments, actual FDA clinical trials</a:t>
            </a:r>
            <a:br>
              <a:rPr lang="en-US"/>
            </a:br>
            <a:r>
              <a:rPr lang="en-US"/>
              <a:t>• 'For Round 3 — think about what you're UNCERTAIN about, not just what worked'</a:t>
            </a:r>
            <a:br>
              <a:rPr lang="en-US"/>
            </a:br>
            <a:r>
              <a:rPr lang="en-US"/>
              <a:t>• 'If you barely tried something and it worked, try it again — you might have found gold'</a:t>
            </a:r>
            <a:br>
              <a:rPr lang="en-US"/>
            </a:br>
            <a:r>
              <a:rPr lang="en-US"/>
              <a:t>• Hand off to Zak for final round</a:t>
            </a:r>
            <a:endParaRPr/>
          </a:p>
        </p:txBody>
      </p:sp>
      <p:sp>
        <p:nvSpPr>
          <p:cNvPr id="207" name="Google Shape;207;g3d28e80be46_0_9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28e80be46_0_9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d28e80be46_0_9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ZAK — 16:30-19:30 (3 min gameplay)</a:t>
            </a:r>
            <a:br>
              <a:rPr lang="en-US"/>
            </a:br>
            <a:r>
              <a:rPr lang="en-US"/>
              <a:t>• Switch to live game dashboard for the final round</a:t>
            </a:r>
            <a:br>
              <a:rPr lang="en-US"/>
            </a:br>
            <a:r>
              <a:rPr lang="en-US"/>
              <a:t>• Commentary ideas:</a:t>
            </a:r>
            <a:br>
              <a:rPr lang="en-US"/>
            </a:br>
            <a:r>
              <a:rPr lang="en-US"/>
              <a:t>  - 'People are making more deliberate choices now'</a:t>
            </a:r>
            <a:br>
              <a:rPr lang="en-US"/>
            </a:br>
            <a:r>
              <a:rPr lang="en-US"/>
              <a:t>  - 'Notice how the distribution is shifting compared to Rounds 1 and 2'</a:t>
            </a:r>
            <a:br>
              <a:rPr lang="en-US"/>
            </a:br>
            <a:r>
              <a:rPr lang="en-US"/>
              <a:t>  - Call out if anyone is crushing it — build some friendly competition</a:t>
            </a:r>
            <a:br>
              <a:rPr lang="en-US"/>
            </a:br>
            <a:r>
              <a:rPr lang="en-US"/>
              <a:t>• After all 4 attempts: announce Round 3 average</a:t>
            </a:r>
            <a:br>
              <a:rPr lang="en-US"/>
            </a:br>
            <a:r>
              <a:rPr lang="en-US"/>
              <a:t>• Give the full progression: 'Round 1: X, Round 2: Y, Round 3: Z — the strategies worked!'</a:t>
            </a:r>
            <a:br>
              <a:rPr lang="en-US"/>
            </a:br>
            <a:r>
              <a:rPr lang="en-US"/>
              <a:t>• If scores improved: 'See? Better algorithms = better outcomes'</a:t>
            </a:r>
            <a:br>
              <a:rPr lang="en-US"/>
            </a:br>
            <a:r>
              <a:rPr lang="en-US"/>
              <a:t>• If scores didn't improve much: 'Remember, 4 attempts per round is very few — with more data Thompson really shines'</a:t>
            </a:r>
            <a:br>
              <a:rPr lang="en-US"/>
            </a:br>
            <a:r>
              <a:rPr lang="en-US"/>
              <a:t>• Tease the reveal: 'But could you have done even better? Let's find out what was actually going on behind the scenes...'</a:t>
            </a:r>
            <a:br>
              <a:rPr lang="en-US"/>
            </a:br>
            <a:r>
              <a:rPr lang="en-US"/>
              <a:t>• Switch back to slides</a:t>
            </a:r>
            <a:endParaRPr/>
          </a:p>
        </p:txBody>
      </p:sp>
      <p:sp>
        <p:nvSpPr>
          <p:cNvPr id="226" name="Google Shape;226;g3d28e80be46_0_9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28e80be46_0_9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d28e80be46_0_9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WILSON — 19:30-21:00</a:t>
            </a:r>
            <a:br>
              <a:rPr lang="en-US"/>
            </a:br>
            <a:r>
              <a:rPr lang="en-US"/>
              <a:t>• This is the big reveal moment — build it up</a:t>
            </a:r>
            <a:br>
              <a:rPr lang="en-US"/>
            </a:br>
            <a:r>
              <a:rPr lang="en-US"/>
              <a:t>• Walk through 2-3 personas in detail:</a:t>
            </a:r>
            <a:br>
              <a:rPr lang="en-US"/>
            </a:br>
            <a:r>
              <a:rPr lang="en-US"/>
              <a:t>  - Maya (Data Science): 'Most of you Mayas probably stuck with your major at 30%, but Science/Med students were at 65%!'</a:t>
            </a:r>
            <a:br>
              <a:rPr lang="en-US"/>
            </a:br>
            <a:r>
              <a:rPr lang="en-US"/>
              <a:t>  - Jordan (CS): 'Alumni connections were 70% — twice as good as CS peers at 35%'</a:t>
            </a:r>
            <a:br>
              <a:rPr lang="en-US"/>
            </a:br>
            <a:r>
              <a:rPr lang="en-US"/>
              <a:t>  - Riley (Business): 'Liberal Arts students at 65% — diverse thinking wins for case comp teams'</a:t>
            </a:r>
            <a:br>
              <a:rPr lang="en-US"/>
            </a:br>
            <a:r>
              <a:rPr lang="en-US"/>
              <a:t>• Key surprise: the 'obvious' choice (your own major) was almost NEVER the best</a:t>
            </a:r>
            <a:br>
              <a:rPr lang="en-US"/>
            </a:br>
            <a:r>
              <a:rPr lang="en-US"/>
              <a:t>• Ask: 'How many of you found the optimal connection type?' — celebrate anyone who did</a:t>
            </a:r>
            <a:br>
              <a:rPr lang="en-US"/>
            </a:br>
            <a:r>
              <a:rPr lang="en-US"/>
              <a:t>• 'The people who explored early had a huge advantage'</a:t>
            </a:r>
            <a:br>
              <a:rPr lang="en-US"/>
            </a:br>
            <a:r>
              <a:rPr lang="en-US"/>
              <a:t>• Point out: weak ties and cross-disciplinary connections consistently outperformed</a:t>
            </a:r>
            <a:endParaRPr/>
          </a:p>
        </p:txBody>
      </p:sp>
      <p:sp>
        <p:nvSpPr>
          <p:cNvPr id="236" name="Google Shape;236;g3d28e80be46_0_9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28e80be46_0_9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d28e80be46_0_9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WILSON — 21:00-22:00</a:t>
            </a:r>
            <a:br>
              <a:rPr lang="en-US"/>
            </a:br>
            <a:r>
              <a:rPr lang="en-US"/>
              <a:t>• 'There was no single best strategy — it depended entirely on your context'</a:t>
            </a:r>
            <a:br>
              <a:rPr lang="en-US"/>
            </a:br>
            <a:r>
              <a:rPr lang="en-US"/>
              <a:t>• Walk through each context row:</a:t>
            </a:r>
            <a:br>
              <a:rPr lang="en-US"/>
            </a:br>
            <a:r>
              <a:rPr lang="en-US"/>
              <a:t>  - Career goals: alumni and weak ties consistently beat peers</a:t>
            </a:r>
            <a:br>
              <a:rPr lang="en-US"/>
            </a:br>
            <a:r>
              <a:rPr lang="en-US"/>
              <a:t>  - Projects: you need complementary skills, not copies of yourself</a:t>
            </a:r>
            <a:br>
              <a:rPr lang="en-US"/>
            </a:br>
            <a:r>
              <a:rPr lang="en-US"/>
              <a:t>  - Research: vertical connections (grad students, professors) are gold</a:t>
            </a:r>
            <a:br>
              <a:rPr lang="en-US"/>
            </a:br>
            <a:r>
              <a:rPr lang="en-US"/>
              <a:t>  - Community work: bridging connections across different groups</a:t>
            </a:r>
            <a:br>
              <a:rPr lang="en-US"/>
            </a:br>
            <a:r>
              <a:rPr lang="en-US"/>
              <a:t>• The meta-lesson: MAB doesn't find THE answer — it efficiently finds YOUR answer</a:t>
            </a:r>
            <a:br>
              <a:rPr lang="en-US"/>
            </a:br>
            <a:r>
              <a:rPr lang="en-US"/>
              <a:t>• Connect to tech: 'This is exactly why LinkedIn's algorithm is personalized — it's running a bandit on your specific context'</a:t>
            </a:r>
            <a:br>
              <a:rPr lang="en-US"/>
            </a:br>
            <a:r>
              <a:rPr lang="en-US"/>
              <a:t>• 'Netflix doesn't show everyone the same thumbnails — it's learning what works for YOU'</a:t>
            </a:r>
            <a:endParaRPr/>
          </a:p>
        </p:txBody>
      </p:sp>
      <p:sp>
        <p:nvSpPr>
          <p:cNvPr id="273" name="Google Shape;273;g3d28e80be46_0_9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28e80be46_0_10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d28e80be46_0_10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WILSON — 22:00-22:30</a:t>
            </a:r>
            <a:br>
              <a:rPr lang="en-US"/>
            </a:br>
            <a:r>
              <a:rPr lang="en-US"/>
              <a:t>• Define regret simply: 'The gap between the best you COULD have done and what you actually got'</a:t>
            </a:r>
            <a:br>
              <a:rPr lang="en-US"/>
            </a:br>
            <a:r>
              <a:rPr lang="en-US"/>
              <a:t>• Walk through the three curves:</a:t>
            </a:r>
            <a:br>
              <a:rPr lang="en-US"/>
            </a:br>
            <a:r>
              <a:rPr lang="en-US"/>
              <a:t>  - Random: linear — you keep making mistakes at the same rate forever</a:t>
            </a:r>
            <a:br>
              <a:rPr lang="en-US"/>
            </a:br>
            <a:r>
              <a:rPr lang="en-US"/>
              <a:t>  - Epsilon-Greedy: sublinear — gets better over time but never fully optimal</a:t>
            </a:r>
            <a:br>
              <a:rPr lang="en-US"/>
            </a:br>
            <a:r>
              <a:rPr lang="en-US"/>
              <a:t>  - Thompson: logarithmic — flattens out fast, barely any regret after a while</a:t>
            </a:r>
            <a:br>
              <a:rPr lang="en-US"/>
            </a:br>
            <a:r>
              <a:rPr lang="en-US"/>
              <a:t>• 'Thompson is provably near-optimal — you literally can't do much better than O(log T)'</a:t>
            </a:r>
            <a:br>
              <a:rPr lang="en-US"/>
            </a:br>
            <a:r>
              <a:rPr lang="en-US"/>
              <a:t>• If you have class data: 'Your class average regret was about X per round — optimal would have been around Y'</a:t>
            </a:r>
            <a:br>
              <a:rPr lang="en-US"/>
            </a:br>
            <a:r>
              <a:rPr lang="en-US"/>
              <a:t>• This is why Thompson is the industry standard for production systems</a:t>
            </a:r>
            <a:br>
              <a:rPr lang="en-US"/>
            </a:br>
            <a:r>
              <a:rPr lang="en-US"/>
              <a:t>• Key takeaway: smarter exploration = less regret = better outcomes faster</a:t>
            </a:r>
            <a:endParaRPr/>
          </a:p>
        </p:txBody>
      </p:sp>
      <p:sp>
        <p:nvSpPr>
          <p:cNvPr id="298" name="Google Shape;298;g3d28e80be46_0_10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d28e80be46_0_10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d28e80be46_0_10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LANCE — 22:30-23:30</a:t>
            </a:r>
            <a:br>
              <a:rPr lang="en-US"/>
            </a:br>
            <a:r>
              <a:rPr lang="en-US"/>
              <a:t>• This slide shows MAB is everywhere — not just a classroom exercise</a:t>
            </a:r>
            <a:br>
              <a:rPr lang="en-US"/>
            </a:br>
            <a:r>
              <a:rPr lang="en-US"/>
              <a:t>• Hit each application briefly:</a:t>
            </a:r>
            <a:br>
              <a:rPr lang="en-US"/>
            </a:br>
            <a:r>
              <a:rPr lang="en-US"/>
              <a:t>  - Clinical trials: FDA now approves adaptive trials that allocate more patients to the winning treatment in real time</a:t>
            </a:r>
            <a:br>
              <a:rPr lang="en-US"/>
            </a:br>
            <a:r>
              <a:rPr lang="en-US"/>
              <a:t>  - A/B testing: Google tests thousands of variations simultaneously using bandits</a:t>
            </a:r>
            <a:br>
              <a:rPr lang="en-US"/>
            </a:br>
            <a:r>
              <a:rPr lang="en-US"/>
              <a:t>  - Ads: Meta's ad platform decides which creative to show you — that's a bandit</a:t>
            </a:r>
            <a:br>
              <a:rPr lang="en-US"/>
            </a:br>
            <a:r>
              <a:rPr lang="en-US"/>
              <a:t>  - Resource allocation: where to invest limited budget across competing projects</a:t>
            </a:r>
            <a:br>
              <a:rPr lang="en-US"/>
            </a:br>
            <a:r>
              <a:rPr lang="en-US"/>
              <a:t>  - Recommendations: Netflix, TikTok, YouTube — the 'For You' page is a bandit</a:t>
            </a:r>
            <a:br>
              <a:rPr lang="en-US"/>
            </a:br>
            <a:r>
              <a:rPr lang="en-US"/>
              <a:t>  - Network routing: AWS load balancers decide which server path is fastest</a:t>
            </a:r>
            <a:br>
              <a:rPr lang="en-US"/>
            </a:br>
            <a:r>
              <a:rPr lang="en-US"/>
              <a:t>• Key point: ANY repeated decision under uncertainty with limited resources = MAB</a:t>
            </a:r>
            <a:br>
              <a:rPr lang="en-US"/>
            </a:br>
            <a:r>
              <a:rPr lang="en-US"/>
              <a:t>• 'You'll encounter this framework everywhere in industry, not just in this class'</a:t>
            </a:r>
            <a:endParaRPr/>
          </a:p>
        </p:txBody>
      </p:sp>
      <p:sp>
        <p:nvSpPr>
          <p:cNvPr id="322" name="Google Shape;322;g3d28e80be46_0_10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d28e80be46_0_10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d28e80be46_0_10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LANCE — 23:30-24:00</a:t>
            </a:r>
            <a:br>
              <a:rPr lang="en-US"/>
            </a:br>
            <a:r>
              <a:rPr lang="en-US"/>
              <a:t>• Zoom out to the bigger picture — why does this matter beyond today?</a:t>
            </a:r>
            <a:br>
              <a:rPr lang="en-US"/>
            </a:br>
            <a:r>
              <a:rPr lang="en-US"/>
              <a:t>• Most real-world optimization has these 4 properties:</a:t>
            </a:r>
            <a:br>
              <a:rPr lang="en-US"/>
            </a:br>
            <a:r>
              <a:rPr lang="en-US"/>
              <a:t>  - Unknown parameters: you don't know success rates upfront</a:t>
            </a:r>
            <a:br>
              <a:rPr lang="en-US"/>
            </a:br>
            <a:r>
              <a:rPr lang="en-US"/>
              <a:t>  - Limited resources: can't try everything forever</a:t>
            </a:r>
            <a:br>
              <a:rPr lang="en-US"/>
            </a:br>
            <a:r>
              <a:rPr lang="en-US"/>
              <a:t>  - Changing conditions: what works today might not work tomorrow</a:t>
            </a:r>
            <a:br>
              <a:rPr lang="en-US"/>
            </a:br>
            <a:r>
              <a:rPr lang="en-US"/>
              <a:t>  - Cost of exploration: every failed attempt costs something (time, money, a patient's health)</a:t>
            </a:r>
            <a:br>
              <a:rPr lang="en-US"/>
            </a:br>
            <a:r>
              <a:rPr lang="en-US"/>
              <a:t>• MAB gives you a PRINCIPLED framework for balancing learning vs earning</a:t>
            </a:r>
            <a:br>
              <a:rPr lang="en-US"/>
            </a:br>
            <a:r>
              <a:rPr lang="en-US"/>
              <a:t>• Thompson Sampling specifically: O(log T) regret, provably near-optimal, works in practice</a:t>
            </a:r>
            <a:br>
              <a:rPr lang="en-US"/>
            </a:br>
            <a:r>
              <a:rPr lang="en-US"/>
              <a:t>• Connect to your own project: 'We're building a networking platform and this is exactly the problem we're solving'</a:t>
            </a:r>
            <a:br>
              <a:rPr lang="en-US"/>
            </a:br>
            <a:r>
              <a:rPr lang="en-US"/>
              <a:t>• 'Any exploration-exploitation tradeoff you face in your career — choosing jobs, investing, trying new tools — you can think about it through this lens'</a:t>
            </a:r>
            <a:endParaRPr/>
          </a:p>
        </p:txBody>
      </p:sp>
      <p:sp>
        <p:nvSpPr>
          <p:cNvPr id="353" name="Google Shape;353;g3d28e80be46_0_10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d28e80be46_0_10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3d28e80be46_0_10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 — 24:00-25:00+ (Q&amp;A buffer)</a:t>
            </a:r>
            <a:br>
              <a:rPr lang="en-US"/>
            </a:br>
            <a:r>
              <a:rPr lang="en-US"/>
              <a:t>• Open the floor — 'Any questions about the algorithms, the game, or how this applies?'</a:t>
            </a:r>
            <a:br>
              <a:rPr lang="en-US"/>
            </a:br>
            <a:r>
              <a:rPr lang="en-US"/>
              <a:t>• If no questions, use the discussion prompts on screen:</a:t>
            </a:r>
            <a:br>
              <a:rPr lang="en-US"/>
            </a:br>
            <a:r>
              <a:rPr lang="en-US"/>
              <a:t>  - Ethics: 'When is exploration unethical? Think clinical trials — at what point do you STOP giving patients the worse treatment?'</a:t>
            </a:r>
            <a:br>
              <a:rPr lang="en-US"/>
            </a:br>
            <a:r>
              <a:rPr lang="en-US"/>
              <a:t>  - Non-stationary: 'What if probabilities change over time? User preferences drift — Netflix has to keep re-learning'</a:t>
            </a:r>
            <a:br>
              <a:rPr lang="en-US"/>
            </a:br>
            <a:r>
              <a:rPr lang="en-US"/>
              <a:t>  - Other tradeoffs: 'Where else do you see explore-exploit? Restaurants, career moves, relationships, investments...'</a:t>
            </a:r>
            <a:br>
              <a:rPr lang="en-US"/>
            </a:br>
            <a:r>
              <a:rPr lang="en-US"/>
              <a:t>• Be ready to discuss extensions if asked:</a:t>
            </a:r>
            <a:br>
              <a:rPr lang="en-US"/>
            </a:br>
            <a:r>
              <a:rPr lang="en-US"/>
              <a:t>  - Contextual bandits: using extra info (demographics, time of day) to personalize further</a:t>
            </a:r>
            <a:br>
              <a:rPr lang="en-US"/>
            </a:br>
            <a:r>
              <a:rPr lang="en-US"/>
              <a:t>  - Non-stationary bandits: adding a decay/forgetting factor</a:t>
            </a:r>
            <a:br>
              <a:rPr lang="en-US"/>
            </a:br>
            <a:r>
              <a:rPr lang="en-US"/>
              <a:t>  - Multi-objective bandits: optimizing for multiple things at once</a:t>
            </a:r>
            <a:br>
              <a:rPr lang="en-US"/>
            </a:br>
            <a:r>
              <a:rPr lang="en-US"/>
              <a:t>• Wrap up: thank the audience, remind them of the key takeaway — smart exploration beats blind guessing every time</a:t>
            </a:r>
            <a:endParaRPr/>
          </a:p>
        </p:txBody>
      </p:sp>
      <p:sp>
        <p:nvSpPr>
          <p:cNvPr id="375" name="Google Shape;375;g3d28e80be46_0_10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29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d28e80be46_0_740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g3d28e80be46_0_7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54864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g3d28e80be46_0_740"/>
          <p:cNvSpPr/>
          <p:nvPr/>
        </p:nvSpPr>
        <p:spPr>
          <a:xfrm>
            <a:off x="457200" y="201168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MULTI-ARMED BANDITS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g3d28e80be46_0_740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Optimal Decision-Making Under Uncertainty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g3d28e80be46_0_740"/>
          <p:cNvCxnSpPr/>
          <p:nvPr/>
        </p:nvCxnSpPr>
        <p:spPr>
          <a:xfrm>
            <a:off x="3200400" y="3383280"/>
            <a:ext cx="2743200" cy="0"/>
          </a:xfrm>
          <a:prstGeom prst="straightConnector1">
            <a:avLst/>
          </a:prstGeom>
          <a:noFill/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g3d28e80be46_0_740"/>
          <p:cNvSpPr/>
          <p:nvPr/>
        </p:nvSpPr>
        <p:spPr>
          <a:xfrm>
            <a:off x="457200" y="36576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Lance  |  Wilson  |  Zakaria  |  Tatum  |  Kenny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g3d28e80be46_0_740"/>
          <p:cNvSpPr/>
          <p:nvPr/>
        </p:nvSpPr>
        <p:spPr>
          <a:xfrm>
            <a:off x="457200" y="411480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March 26,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d28e80be46_0_751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g3d28e80be46_0_751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THE EXPLORATION-EXPLOITATION DILEMMA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d28e80be46_0_751"/>
          <p:cNvSpPr/>
          <p:nvPr/>
        </p:nvSpPr>
        <p:spPr>
          <a:xfrm>
            <a:off x="457200" y="100584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You have multiple options. Each has an </a:t>
            </a:r>
            <a:r>
              <a:rPr b="1" i="0" lang="en-US" sz="16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unknown success rate</a:t>
            </a: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You have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limited attempts</a:t>
            </a: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. What do you do?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g3d28e80be46_0_751"/>
          <p:cNvSpPr/>
          <p:nvPr/>
        </p:nvSpPr>
        <p:spPr>
          <a:xfrm>
            <a:off x="457200" y="2103120"/>
            <a:ext cx="2560200" cy="23775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" name="Google Shape;32;g3d28e80be46_0_7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23317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g3d28e80be46_0_751"/>
          <p:cNvSpPr/>
          <p:nvPr/>
        </p:nvSpPr>
        <p:spPr>
          <a:xfrm>
            <a:off x="457200" y="3108960"/>
            <a:ext cx="256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EXPLOIT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g3d28e80be46_0_751"/>
          <p:cNvSpPr/>
          <p:nvPr/>
        </p:nvSpPr>
        <p:spPr>
          <a:xfrm>
            <a:off x="640080" y="3520440"/>
            <a:ext cx="2194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Pick what's worked so far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g3d28e80be46_0_751"/>
          <p:cNvSpPr/>
          <p:nvPr/>
        </p:nvSpPr>
        <p:spPr>
          <a:xfrm>
            <a:off x="3383280" y="2103120"/>
            <a:ext cx="2560200" cy="23775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g3d28e80be46_0_7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23317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g3d28e80be46_0_751"/>
          <p:cNvSpPr/>
          <p:nvPr/>
        </p:nvSpPr>
        <p:spPr>
          <a:xfrm>
            <a:off x="3383280" y="3108960"/>
            <a:ext cx="256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Trebuchet MS"/>
                <a:ea typeface="Trebuchet MS"/>
                <a:cs typeface="Trebuchet MS"/>
                <a:sym typeface="Trebuchet MS"/>
              </a:rPr>
              <a:t>EXPLORE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g3d28e80be46_0_751"/>
          <p:cNvSpPr/>
          <p:nvPr/>
        </p:nvSpPr>
        <p:spPr>
          <a:xfrm>
            <a:off x="3566160" y="3520440"/>
            <a:ext cx="2194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Try something new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d28e80be46_0_751"/>
          <p:cNvSpPr/>
          <p:nvPr/>
        </p:nvSpPr>
        <p:spPr>
          <a:xfrm>
            <a:off x="6309360" y="2103120"/>
            <a:ext cx="2560200" cy="23775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g3d28e80be46_0_7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9480" y="23317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g3d28e80be46_0_751"/>
          <p:cNvSpPr/>
          <p:nvPr/>
        </p:nvSpPr>
        <p:spPr>
          <a:xfrm>
            <a:off x="6309360" y="3108960"/>
            <a:ext cx="256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MIX STRATEGICALLY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d28e80be46_0_751"/>
          <p:cNvSpPr/>
          <p:nvPr/>
        </p:nvSpPr>
        <p:spPr>
          <a:xfrm>
            <a:off x="6492240" y="3520440"/>
            <a:ext cx="2194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Balance both intelligently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d28e80be46_0_770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g3d28e80be46_0_7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32004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g3d28e80be46_0_770"/>
          <p:cNvSpPr/>
          <p:nvPr/>
        </p:nvSpPr>
        <p:spPr>
          <a:xfrm>
            <a:off x="457200" y="128016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PULL OUT YOUR PHONES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g3d28e80be46_0_770"/>
          <p:cNvSpPr/>
          <p:nvPr/>
        </p:nvSpPr>
        <p:spPr>
          <a:xfrm>
            <a:off x="2971800" y="2011680"/>
            <a:ext cx="3200400" cy="219450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d28e80be46_0_770"/>
          <p:cNvSpPr/>
          <p:nvPr/>
        </p:nvSpPr>
        <p:spPr>
          <a:xfrm>
            <a:off x="2971800" y="256032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[ INSERT QR CODE 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3d28e80be46_0_770"/>
          <p:cNvSpPr/>
          <p:nvPr/>
        </p:nvSpPr>
        <p:spPr>
          <a:xfrm>
            <a:off x="457200" y="438912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bandit-game.vercel.app/play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28e80be46_0_780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d28e80be46_0_780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HOW THE GAME WORKS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d28e80be46_0_780"/>
          <p:cNvSpPr/>
          <p:nvPr/>
        </p:nvSpPr>
        <p:spPr>
          <a:xfrm>
            <a:off x="640080" y="1097280"/>
            <a:ext cx="7863900" cy="54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g3d28e80be46_0_7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1887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d28e80be46_0_780"/>
          <p:cNvSpPr/>
          <p:nvPr/>
        </p:nvSpPr>
        <p:spPr>
          <a:xfrm>
            <a:off x="1463040" y="1097280"/>
            <a:ext cx="6766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You're a student building your professional network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d28e80be46_0_780"/>
          <p:cNvSpPr/>
          <p:nvPr/>
        </p:nvSpPr>
        <p:spPr>
          <a:xfrm>
            <a:off x="640080" y="1783080"/>
            <a:ext cx="7863900" cy="54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g3d28e80be46_0_7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" y="18745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d28e80be46_0_780"/>
          <p:cNvSpPr/>
          <p:nvPr/>
        </p:nvSpPr>
        <p:spPr>
          <a:xfrm>
            <a:off x="1463040" y="1783080"/>
            <a:ext cx="6766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 types of connections available to explore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d28e80be46_0_780"/>
          <p:cNvSpPr/>
          <p:nvPr/>
        </p:nvSpPr>
        <p:spPr>
          <a:xfrm>
            <a:off x="640080" y="2468880"/>
            <a:ext cx="7863900" cy="54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g3d28e80be46_0_7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" y="2560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3d28e80be46_0_780"/>
          <p:cNvSpPr/>
          <p:nvPr/>
        </p:nvSpPr>
        <p:spPr>
          <a:xfrm>
            <a:off x="1463040" y="2468880"/>
            <a:ext cx="6766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Each has a HIDDEN response rate you must discover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d28e80be46_0_780"/>
          <p:cNvSpPr/>
          <p:nvPr/>
        </p:nvSpPr>
        <p:spPr>
          <a:xfrm>
            <a:off x="640080" y="3154680"/>
            <a:ext cx="7863900" cy="54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g3d28e80be46_0_78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8680" y="3246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d28e80be46_0_780"/>
          <p:cNvSpPr/>
          <p:nvPr/>
        </p:nvSpPr>
        <p:spPr>
          <a:xfrm>
            <a:off x="1463040" y="3154680"/>
            <a:ext cx="6766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 rounds, 4 attempts per round = 12 total tries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g3d28e80be46_0_780"/>
          <p:cNvSpPr/>
          <p:nvPr/>
        </p:nvSpPr>
        <p:spPr>
          <a:xfrm>
            <a:off x="640080" y="3840480"/>
            <a:ext cx="7863900" cy="54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g3d28e80be46_0_78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8680" y="3931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g3d28e80be46_0_780"/>
          <p:cNvSpPr/>
          <p:nvPr/>
        </p:nvSpPr>
        <p:spPr>
          <a:xfrm>
            <a:off x="1463040" y="3840480"/>
            <a:ext cx="6766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Goal: Maximize successful connections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28e80be46_0_801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d28e80be46_0_801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THE 4 CONNECTION TYPES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3d28e80be46_0_801"/>
          <p:cNvSpPr/>
          <p:nvPr/>
        </p:nvSpPr>
        <p:spPr>
          <a:xfrm>
            <a:off x="457200" y="1097280"/>
            <a:ext cx="1993500" cy="256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d28e80be46_0_801"/>
          <p:cNvSpPr/>
          <p:nvPr/>
        </p:nvSpPr>
        <p:spPr>
          <a:xfrm>
            <a:off x="457200" y="1097280"/>
            <a:ext cx="1993500" cy="73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g3d28e80be46_0_8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856" y="14173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d28e80be46_0_801"/>
          <p:cNvSpPr/>
          <p:nvPr/>
        </p:nvSpPr>
        <p:spPr>
          <a:xfrm>
            <a:off x="457200" y="2194560"/>
            <a:ext cx="199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YOUR MAJOR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d28e80be46_0_801"/>
          <p:cNvSpPr/>
          <p:nvPr/>
        </p:nvSpPr>
        <p:spPr>
          <a:xfrm>
            <a:off x="594360" y="2651760"/>
            <a:ext cx="1719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Students in your field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d28e80be46_0_801"/>
          <p:cNvSpPr/>
          <p:nvPr/>
        </p:nvSpPr>
        <p:spPr>
          <a:xfrm>
            <a:off x="2633472" y="1097280"/>
            <a:ext cx="1993500" cy="256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d28e80be46_0_801"/>
          <p:cNvSpPr/>
          <p:nvPr/>
        </p:nvSpPr>
        <p:spPr>
          <a:xfrm>
            <a:off x="2633472" y="1097280"/>
            <a:ext cx="1993500" cy="73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g3d28e80be46_0_8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0128" y="14173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d28e80be46_0_801"/>
          <p:cNvSpPr/>
          <p:nvPr/>
        </p:nvSpPr>
        <p:spPr>
          <a:xfrm>
            <a:off x="2633472" y="2194560"/>
            <a:ext cx="199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Trebuchet MS"/>
                <a:ea typeface="Trebuchet MS"/>
                <a:cs typeface="Trebuchet MS"/>
                <a:sym typeface="Trebuchet MS"/>
              </a:rPr>
              <a:t>ADJACENT FIELDS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d28e80be46_0_801"/>
          <p:cNvSpPr/>
          <p:nvPr/>
        </p:nvSpPr>
        <p:spPr>
          <a:xfrm>
            <a:off x="2770632" y="2651760"/>
            <a:ext cx="1719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Related but different majors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d28e80be46_0_801"/>
          <p:cNvSpPr/>
          <p:nvPr/>
        </p:nvSpPr>
        <p:spPr>
          <a:xfrm>
            <a:off x="4800600" y="1097280"/>
            <a:ext cx="1993500" cy="256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d28e80be46_0_801"/>
          <p:cNvSpPr/>
          <p:nvPr/>
        </p:nvSpPr>
        <p:spPr>
          <a:xfrm>
            <a:off x="4800600" y="1097280"/>
            <a:ext cx="1993500" cy="73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g3d28e80be46_0_8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77256" y="14173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3d28e80be46_0_801"/>
          <p:cNvSpPr/>
          <p:nvPr/>
        </p:nvSpPr>
        <p:spPr>
          <a:xfrm>
            <a:off x="4800600" y="2194560"/>
            <a:ext cx="199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DIFFERENT COLLEGES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d28e80be46_0_801"/>
          <p:cNvSpPr/>
          <p:nvPr/>
        </p:nvSpPr>
        <p:spPr>
          <a:xfrm>
            <a:off x="4937760" y="2651760"/>
            <a:ext cx="1719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Completely different areas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d28e80be46_0_801"/>
          <p:cNvSpPr/>
          <p:nvPr/>
        </p:nvSpPr>
        <p:spPr>
          <a:xfrm>
            <a:off x="6976872" y="1097280"/>
            <a:ext cx="1993500" cy="256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d28e80be46_0_801"/>
          <p:cNvSpPr/>
          <p:nvPr/>
        </p:nvSpPr>
        <p:spPr>
          <a:xfrm>
            <a:off x="6976872" y="1097280"/>
            <a:ext cx="1993500" cy="73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g3d28e80be46_0_80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53528" y="14173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d28e80be46_0_801"/>
          <p:cNvSpPr/>
          <p:nvPr/>
        </p:nvSpPr>
        <p:spPr>
          <a:xfrm>
            <a:off x="6976872" y="2194560"/>
            <a:ext cx="199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ALUMNI / PROS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d28e80be46_0_801"/>
          <p:cNvSpPr/>
          <p:nvPr/>
        </p:nvSpPr>
        <p:spPr>
          <a:xfrm>
            <a:off x="7114032" y="2651760"/>
            <a:ext cx="1719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People who've graduated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d28e80be46_0_801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Which is best? You'll have to discover through exploration!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28e80be46_0_828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0" name="Google Shape;110;g3d28e80be46_0_8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73152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d28e80be46_0_828"/>
          <p:cNvSpPr/>
          <p:nvPr/>
        </p:nvSpPr>
        <p:spPr>
          <a:xfrm>
            <a:off x="457200" y="228600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ROUND 1 — PLAY NOW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d28e80be46_0_828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No strategy — go with your gut!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d28e80be46_0_828"/>
          <p:cNvSpPr/>
          <p:nvPr/>
        </p:nvSpPr>
        <p:spPr>
          <a:xfrm>
            <a:off x="457200" y="374904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attempts  •  Pick whatever feels right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28e80be46_0_837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d28e80be46_0_837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STRATEGY 1: EPSILON-GREEDY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d28e80be46_0_837"/>
          <p:cNvSpPr/>
          <p:nvPr/>
        </p:nvSpPr>
        <p:spPr>
          <a:xfrm>
            <a:off x="457200" y="1097280"/>
            <a:ext cx="3931800" cy="18288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d28e80be46_0_837"/>
          <p:cNvSpPr/>
          <p:nvPr/>
        </p:nvSpPr>
        <p:spPr>
          <a:xfrm>
            <a:off x="457200" y="1234440"/>
            <a:ext cx="3931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5400"/>
              <a:buFont typeface="Trebuchet MS"/>
              <a:buNone/>
            </a:pPr>
            <a:r>
              <a:rPr b="1" i="0" lang="en-US" sz="54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80%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d28e80be46_0_837"/>
          <p:cNvSpPr/>
          <p:nvPr/>
        </p:nvSpPr>
        <p:spPr>
          <a:xfrm>
            <a:off x="457200" y="2057400"/>
            <a:ext cx="393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EXPLOIT best option so far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d28e80be46_0_837"/>
          <p:cNvSpPr/>
          <p:nvPr/>
        </p:nvSpPr>
        <p:spPr>
          <a:xfrm>
            <a:off x="4754880" y="1097280"/>
            <a:ext cx="3931800" cy="18288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d28e80be46_0_837"/>
          <p:cNvSpPr/>
          <p:nvPr/>
        </p:nvSpPr>
        <p:spPr>
          <a:xfrm>
            <a:off x="4754880" y="1234440"/>
            <a:ext cx="3931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5400"/>
              <a:buFont typeface="Trebuchet MS"/>
              <a:buNone/>
            </a:pPr>
            <a:r>
              <a:rPr b="1" i="0" lang="en-US" sz="5400" u="none" cap="none" strike="noStrike">
                <a:solidFill>
                  <a:srgbClr val="8B5CF6"/>
                </a:solidFill>
                <a:latin typeface="Trebuchet MS"/>
                <a:ea typeface="Trebuchet MS"/>
                <a:cs typeface="Trebuchet MS"/>
                <a:sym typeface="Trebuchet MS"/>
              </a:rPr>
              <a:t>20%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d28e80be46_0_837"/>
          <p:cNvSpPr/>
          <p:nvPr/>
        </p:nvSpPr>
        <p:spPr>
          <a:xfrm>
            <a:off x="4754880" y="2057400"/>
            <a:ext cx="393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EXPLORE randomly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d28e80be46_0_837"/>
          <p:cNvSpPr/>
          <p:nvPr/>
        </p:nvSpPr>
        <p:spPr>
          <a:xfrm>
            <a:off x="457200" y="329184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WHY IT WORKS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" name="Google Shape;128;g3d28e80be46_0_8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37490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d28e80be46_0_837"/>
          <p:cNvSpPr/>
          <p:nvPr/>
        </p:nvSpPr>
        <p:spPr>
          <a:xfrm>
            <a:off x="1005840" y="370332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Mostly exploits what works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" name="Google Shape;130;g3d28e80be46_0_8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41148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d28e80be46_0_837"/>
          <p:cNvSpPr/>
          <p:nvPr/>
        </p:nvSpPr>
        <p:spPr>
          <a:xfrm>
            <a:off x="1005840" y="406908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Keeps exploring for better options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" name="Google Shape;132;g3d28e80be46_0_8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44805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d28e80be46_0_837"/>
          <p:cNvSpPr/>
          <p:nvPr/>
        </p:nvSpPr>
        <p:spPr>
          <a:xfrm>
            <a:off x="1005840" y="443484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Guaranteed not to get stuck on a bad choice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28e80be46_0_856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d28e80be46_0_856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EPSILON-GREEDY: EXAMPLE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d28e80be46_0_856"/>
          <p:cNvSpPr/>
          <p:nvPr/>
        </p:nvSpPr>
        <p:spPr>
          <a:xfrm>
            <a:off x="457200" y="1005840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YOUR ROUND 1 RESULTS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2" name="Google Shape;142;g3d28e80be46_0_856"/>
          <p:cNvGraphicFramePr/>
          <p:nvPr/>
        </p:nvGraphicFramePr>
        <p:xfrm>
          <a:off x="45720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{C7805DD6-8B26-4B87-9A57-E4426935DDBD}</a:tableStyleId>
              </a:tblPr>
              <a:tblGrid>
                <a:gridCol w="1645925"/>
                <a:gridCol w="640075"/>
                <a:gridCol w="822950"/>
                <a:gridCol w="822950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Connection Type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Success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91B2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Your Major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Adjacent Fields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91B2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891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Different Colleges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91B2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891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91B2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891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91B2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891B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Alumni/Pros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3" name="Google Shape;143;g3d28e80be46_0_856"/>
          <p:cNvSpPr/>
          <p:nvPr/>
        </p:nvSpPr>
        <p:spPr>
          <a:xfrm>
            <a:off x="5029200" y="1005840"/>
            <a:ext cx="365760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d28e80be46_0_856"/>
          <p:cNvSpPr/>
          <p:nvPr/>
        </p:nvSpPr>
        <p:spPr>
          <a:xfrm>
            <a:off x="5029200" y="1005840"/>
            <a:ext cx="3657600" cy="54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d28e80be46_0_856"/>
          <p:cNvSpPr/>
          <p:nvPr/>
        </p:nvSpPr>
        <p:spPr>
          <a:xfrm>
            <a:off x="5212080" y="1188720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FOR ROUND 2: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d28e80be46_0_856"/>
          <p:cNvSpPr/>
          <p:nvPr/>
        </p:nvSpPr>
        <p:spPr>
          <a:xfrm>
            <a:off x="5212080" y="1600200"/>
            <a:ext cx="32919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Best so far: </a:t>
            </a:r>
            <a:r>
              <a:rPr b="1" i="0" lang="en-US" sz="14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Different Colleges (100%)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3-4 attempts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→ Pick Different (exploit)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0-1 attempts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→ Try something random (explore)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28e80be46_0_868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d28e80be46_0_868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EPSILON-GREEDY: THE CODE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d28e80be46_0_868"/>
          <p:cNvSpPr/>
          <p:nvPr/>
        </p:nvSpPr>
        <p:spPr>
          <a:xfrm>
            <a:off x="457200" y="1005840"/>
            <a:ext cx="5486400" cy="292620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d28e80be46_0_868"/>
          <p:cNvSpPr/>
          <p:nvPr/>
        </p:nvSpPr>
        <p:spPr>
          <a:xfrm>
            <a:off x="731520" y="1188720"/>
            <a:ext cx="50292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success_rate = {}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for each connection_type: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success_rate[type] = successes / attempts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if random() &lt; 0.2:         # explore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choice = random_choice()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else:                      # exploit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choice = max(success_rate)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pull(choice)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update_stats(choice, outcome)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d28e80be46_0_868"/>
          <p:cNvSpPr/>
          <p:nvPr/>
        </p:nvSpPr>
        <p:spPr>
          <a:xfrm>
            <a:off x="6400800" y="1005840"/>
            <a:ext cx="2286000" cy="10974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d28e80be46_0_868"/>
          <p:cNvSpPr/>
          <p:nvPr/>
        </p:nvSpPr>
        <p:spPr>
          <a:xfrm>
            <a:off x="6400800" y="109728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O(k)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d28e80be46_0_868"/>
          <p:cNvSpPr/>
          <p:nvPr/>
        </p:nvSpPr>
        <p:spPr>
          <a:xfrm>
            <a:off x="6400800" y="1508760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per decision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d28e80be46_0_868"/>
          <p:cNvSpPr/>
          <p:nvPr/>
        </p:nvSpPr>
        <p:spPr>
          <a:xfrm>
            <a:off x="6400800" y="2377440"/>
            <a:ext cx="2286000" cy="10974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d28e80be46_0_868"/>
          <p:cNvSpPr/>
          <p:nvPr/>
        </p:nvSpPr>
        <p:spPr>
          <a:xfrm>
            <a:off x="6400800" y="2468880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PRODUCTION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d28e80be46_0_868"/>
          <p:cNvSpPr/>
          <p:nvPr/>
        </p:nvSpPr>
        <p:spPr>
          <a:xfrm>
            <a:off x="6400800" y="2834640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Amazon, Facebook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d28e80be46_0_868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Round 2: Apply Epsilon-Greedy — START!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28e80be46_0_883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" name="Google Shape;169;g3d28e80be46_0_8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73152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d28e80be46_0_883"/>
          <p:cNvSpPr/>
          <p:nvPr/>
        </p:nvSpPr>
        <p:spPr>
          <a:xfrm>
            <a:off x="457200" y="228600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ROUND 2 — PLAY NOW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d28e80be46_0_88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Apply Epsilon-Greedy!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d28e80be46_0_883"/>
          <p:cNvSpPr/>
          <p:nvPr/>
        </p:nvSpPr>
        <p:spPr>
          <a:xfrm>
            <a:off x="457200" y="374904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80% exploit your best option  •  20% explore randomly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28e80be46_0_892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d28e80be46_0_892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PROBLEM WITH EPSILON-GREEDY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d28e80be46_0_892"/>
          <p:cNvSpPr/>
          <p:nvPr/>
        </p:nvSpPr>
        <p:spPr>
          <a:xfrm>
            <a:off x="457200" y="77724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It treats all unknowns equally!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d28e80be46_0_892"/>
          <p:cNvSpPr/>
          <p:nvPr/>
        </p:nvSpPr>
        <p:spPr>
          <a:xfrm>
            <a:off x="457200" y="1463040"/>
            <a:ext cx="3931800" cy="2286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d28e80be46_0_892"/>
          <p:cNvSpPr/>
          <p:nvPr/>
        </p:nvSpPr>
        <p:spPr>
          <a:xfrm>
            <a:off x="457200" y="1463040"/>
            <a:ext cx="3931800" cy="54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d28e80be46_0_892"/>
          <p:cNvSpPr/>
          <p:nvPr/>
        </p:nvSpPr>
        <p:spPr>
          <a:xfrm>
            <a:off x="640080" y="1691640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Alumni: 5 tries → 1 success (20%)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d28e80be46_0_892"/>
          <p:cNvSpPr/>
          <p:nvPr/>
        </p:nvSpPr>
        <p:spPr>
          <a:xfrm>
            <a:off x="640080" y="2194560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HIGH CONFIDENCE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d28e80be46_0_892"/>
          <p:cNvSpPr/>
          <p:nvPr/>
        </p:nvSpPr>
        <p:spPr>
          <a:xfrm>
            <a:off x="640080" y="2606040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You know it's probably bad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d28e80be46_0_892"/>
          <p:cNvSpPr/>
          <p:nvPr/>
        </p:nvSpPr>
        <p:spPr>
          <a:xfrm>
            <a:off x="4754880" y="1463040"/>
            <a:ext cx="3931800" cy="2286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d28e80be46_0_892"/>
          <p:cNvSpPr/>
          <p:nvPr/>
        </p:nvSpPr>
        <p:spPr>
          <a:xfrm>
            <a:off x="4754880" y="1463040"/>
            <a:ext cx="3931800" cy="54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d28e80be46_0_892"/>
          <p:cNvSpPr/>
          <p:nvPr/>
        </p:nvSpPr>
        <p:spPr>
          <a:xfrm>
            <a:off x="4937760" y="1691640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Different: 1 try → 1 success (100%)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d28e80be46_0_892"/>
          <p:cNvSpPr/>
          <p:nvPr/>
        </p:nvSpPr>
        <p:spPr>
          <a:xfrm>
            <a:off x="4937760" y="2194560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HIGH UNCERTAINTY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d28e80be46_0_892"/>
          <p:cNvSpPr/>
          <p:nvPr/>
        </p:nvSpPr>
        <p:spPr>
          <a:xfrm>
            <a:off x="4937760" y="2606040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Could be great, could be luck!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d28e80be46_0_892"/>
          <p:cNvSpPr/>
          <p:nvPr/>
        </p:nvSpPr>
        <p:spPr>
          <a:xfrm>
            <a:off x="2286000" y="3931920"/>
            <a:ext cx="4572000" cy="731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d28e80be46_0_892"/>
          <p:cNvSpPr/>
          <p:nvPr/>
        </p:nvSpPr>
        <p:spPr>
          <a:xfrm>
            <a:off x="2286000" y="3931920"/>
            <a:ext cx="4572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Thompson's Insight:  Be optimistic about uncertainty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28e80be46_0_911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d28e80be46_0_911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THOMPSON SAMPLING: BAYESIAN APPROACH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d28e80be46_0_911"/>
          <p:cNvSpPr/>
          <p:nvPr/>
        </p:nvSpPr>
        <p:spPr>
          <a:xfrm>
            <a:off x="457200" y="77724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Model each option as Beta(successes + 1, failures + 1)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eta_distributions.png" id="201" name="Google Shape;201;g3d28e80be46_0_9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4425" y="1196550"/>
            <a:ext cx="7155149" cy="2285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d28e80be46_0_911"/>
          <p:cNvSpPr/>
          <p:nvPr/>
        </p:nvSpPr>
        <p:spPr>
          <a:xfrm>
            <a:off x="457200" y="3657600"/>
            <a:ext cx="8229600" cy="10059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d28e80be46_0_911"/>
          <p:cNvSpPr/>
          <p:nvPr/>
        </p:nvSpPr>
        <p:spPr>
          <a:xfrm>
            <a:off x="640080" y="3657600"/>
            <a:ext cx="7863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THE ALGORITHM:  Sample from each distribution → Pick the highest sample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28e80be46_0_921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d28e80be46_0_921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THOMPSON SAMPLING: THE CODE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d28e80be46_0_921"/>
          <p:cNvSpPr/>
          <p:nvPr/>
        </p:nvSpPr>
        <p:spPr>
          <a:xfrm>
            <a:off x="457200" y="1005840"/>
            <a:ext cx="5029200" cy="219450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d28e80be46_0_921"/>
          <p:cNvSpPr/>
          <p:nvPr/>
        </p:nvSpPr>
        <p:spPr>
          <a:xfrm>
            <a:off x="731520" y="118872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for each connection_type: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α = successes + 1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β = failures + 1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    θ ~ Beta(α, β)   # Sample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choice = argmax(θ)    # Pick highest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d28e80be46_0_921"/>
          <p:cNvSpPr/>
          <p:nvPr/>
        </p:nvSpPr>
        <p:spPr>
          <a:xfrm>
            <a:off x="5943600" y="1005840"/>
            <a:ext cx="2743200" cy="8229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d28e80be46_0_921"/>
          <p:cNvSpPr/>
          <p:nvPr/>
        </p:nvSpPr>
        <p:spPr>
          <a:xfrm>
            <a:off x="5943600" y="1051560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O(k)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d28e80be46_0_921"/>
          <p:cNvSpPr/>
          <p:nvPr/>
        </p:nvSpPr>
        <p:spPr>
          <a:xfrm>
            <a:off x="5943600" y="146304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per decision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d28e80be46_0_921"/>
          <p:cNvSpPr/>
          <p:nvPr/>
        </p:nvSpPr>
        <p:spPr>
          <a:xfrm>
            <a:off x="5943600" y="2011680"/>
            <a:ext cx="2743200" cy="8229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d28e80be46_0_921"/>
          <p:cNvSpPr/>
          <p:nvPr/>
        </p:nvSpPr>
        <p:spPr>
          <a:xfrm>
            <a:off x="5943600" y="2057400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O(log T)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d28e80be46_0_921"/>
          <p:cNvSpPr/>
          <p:nvPr/>
        </p:nvSpPr>
        <p:spPr>
          <a:xfrm>
            <a:off x="5943600" y="246888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regret — provably optimal!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d28e80be46_0_921"/>
          <p:cNvSpPr/>
          <p:nvPr/>
        </p:nvSpPr>
        <p:spPr>
          <a:xfrm>
            <a:off x="5943600" y="3017520"/>
            <a:ext cx="2743200" cy="8229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d28e80be46_0_921"/>
          <p:cNvSpPr/>
          <p:nvPr/>
        </p:nvSpPr>
        <p:spPr>
          <a:xfrm>
            <a:off x="5943600" y="3063240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USED AT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d28e80be46_0_921"/>
          <p:cNvSpPr/>
          <p:nvPr/>
        </p:nvSpPr>
        <p:spPr>
          <a:xfrm>
            <a:off x="5943600" y="347472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Netflix, Google, FDA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d28e80be46_0_921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Round 3: Apply Thompson Sampling — START!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28e80be46_0_939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g3d28e80be46_0_9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73152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d28e80be46_0_939"/>
          <p:cNvSpPr/>
          <p:nvPr/>
        </p:nvSpPr>
        <p:spPr>
          <a:xfrm>
            <a:off x="457200" y="228600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ROUND 3 — PLAY NOW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d28e80be46_0_939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Apply Thompson Sampling!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d28e80be46_0_939"/>
          <p:cNvSpPr/>
          <p:nvPr/>
        </p:nvSpPr>
        <p:spPr>
          <a:xfrm>
            <a:off x="457200" y="374904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 optimistic about uncertainty  •  Explore what you're unsure about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28e80be46_0_948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d28e80be46_0_948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THE REVEAL: HIDDEN SUCCESS RATES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d28e80be46_0_948"/>
          <p:cNvSpPr/>
          <p:nvPr/>
        </p:nvSpPr>
        <p:spPr>
          <a:xfrm>
            <a:off x="457200" y="1005840"/>
            <a:ext cx="2651700" cy="173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d28e80be46_0_948"/>
          <p:cNvSpPr/>
          <p:nvPr/>
        </p:nvSpPr>
        <p:spPr>
          <a:xfrm>
            <a:off x="457200" y="1097280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Maya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d28e80be46_0_948"/>
          <p:cNvSpPr/>
          <p:nvPr/>
        </p:nvSpPr>
        <p:spPr>
          <a:xfrm>
            <a:off x="457200" y="1371600"/>
            <a:ext cx="265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Data Science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d28e80be46_0_948"/>
          <p:cNvSpPr/>
          <p:nvPr/>
        </p:nvSpPr>
        <p:spPr>
          <a:xfrm>
            <a:off x="457200" y="1691640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Science/Med 65%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d28e80be46_0_948"/>
          <p:cNvSpPr/>
          <p:nvPr/>
        </p:nvSpPr>
        <p:spPr>
          <a:xfrm>
            <a:off x="548640" y="2057400"/>
            <a:ext cx="246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Biz 60% | Major 30% | Alumni 25%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d28e80be46_0_948"/>
          <p:cNvSpPr/>
          <p:nvPr/>
        </p:nvSpPr>
        <p:spPr>
          <a:xfrm>
            <a:off x="3291840" y="1005840"/>
            <a:ext cx="2651700" cy="173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d28e80be46_0_948"/>
          <p:cNvSpPr/>
          <p:nvPr/>
        </p:nvSpPr>
        <p:spPr>
          <a:xfrm>
            <a:off x="3291840" y="1097280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Jordan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d28e80be46_0_948"/>
          <p:cNvSpPr/>
          <p:nvPr/>
        </p:nvSpPr>
        <p:spPr>
          <a:xfrm>
            <a:off x="3291840" y="1371600"/>
            <a:ext cx="265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 Student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d28e80be46_0_948"/>
          <p:cNvSpPr/>
          <p:nvPr/>
        </p:nvSpPr>
        <p:spPr>
          <a:xfrm>
            <a:off x="3291840" y="1691640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Alumni 70%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d28e80be46_0_948"/>
          <p:cNvSpPr/>
          <p:nvPr/>
        </p:nvSpPr>
        <p:spPr>
          <a:xfrm>
            <a:off x="3383280" y="2057400"/>
            <a:ext cx="246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Upper 55% | Industry 40% | Peers 35%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d28e80be46_0_948"/>
          <p:cNvSpPr/>
          <p:nvPr/>
        </p:nvSpPr>
        <p:spPr>
          <a:xfrm>
            <a:off x="6126480" y="1005840"/>
            <a:ext cx="2651700" cy="173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d28e80be46_0_948"/>
          <p:cNvSpPr/>
          <p:nvPr/>
        </p:nvSpPr>
        <p:spPr>
          <a:xfrm>
            <a:off x="6126480" y="1097280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Riley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d28e80be46_0_948"/>
          <p:cNvSpPr/>
          <p:nvPr/>
        </p:nvSpPr>
        <p:spPr>
          <a:xfrm>
            <a:off x="6126480" y="1371600"/>
            <a:ext cx="265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Business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d28e80be46_0_948"/>
          <p:cNvSpPr/>
          <p:nvPr/>
        </p:nvSpPr>
        <p:spPr>
          <a:xfrm>
            <a:off x="6126480" y="1691640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Liberal Arts 65%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d28e80be46_0_948"/>
          <p:cNvSpPr/>
          <p:nvPr/>
        </p:nvSpPr>
        <p:spPr>
          <a:xfrm>
            <a:off x="6217920" y="2057400"/>
            <a:ext cx="246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CS/Eng 60% | Biz 40% | Clubs 30%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d28e80be46_0_948"/>
          <p:cNvSpPr/>
          <p:nvPr/>
        </p:nvSpPr>
        <p:spPr>
          <a:xfrm>
            <a:off x="457200" y="2926080"/>
            <a:ext cx="2651700" cy="173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d28e80be46_0_948"/>
          <p:cNvSpPr/>
          <p:nvPr/>
        </p:nvSpPr>
        <p:spPr>
          <a:xfrm>
            <a:off x="457200" y="3017520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Sam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d28e80be46_0_948"/>
          <p:cNvSpPr/>
          <p:nvPr/>
        </p:nvSpPr>
        <p:spPr>
          <a:xfrm>
            <a:off x="457200" y="3291840"/>
            <a:ext cx="265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Mech Engineering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d28e80be46_0_948"/>
          <p:cNvSpPr/>
          <p:nvPr/>
        </p:nvSpPr>
        <p:spPr>
          <a:xfrm>
            <a:off x="457200" y="3611880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Alumni 65%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d28e80be46_0_948"/>
          <p:cNvSpPr/>
          <p:nvPr/>
        </p:nvSpPr>
        <p:spPr>
          <a:xfrm>
            <a:off x="548640" y="3977640"/>
            <a:ext cx="246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Adjacent 45% | Major 35% | Diff 30%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d28e80be46_0_948"/>
          <p:cNvSpPr/>
          <p:nvPr/>
        </p:nvSpPr>
        <p:spPr>
          <a:xfrm>
            <a:off x="3291840" y="2926080"/>
            <a:ext cx="2651700" cy="173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d28e80be46_0_948"/>
          <p:cNvSpPr/>
          <p:nvPr/>
        </p:nvSpPr>
        <p:spPr>
          <a:xfrm>
            <a:off x="3291840" y="3017520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Alex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d28e80be46_0_948"/>
          <p:cNvSpPr/>
          <p:nvPr/>
        </p:nvSpPr>
        <p:spPr>
          <a:xfrm>
            <a:off x="3291840" y="3291840"/>
            <a:ext cx="265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CS + Design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d28e80be46_0_948"/>
          <p:cNvSpPr/>
          <p:nvPr/>
        </p:nvSpPr>
        <p:spPr>
          <a:xfrm>
            <a:off x="3291840" y="3611880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Adjacent 60%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d28e80be46_0_948"/>
          <p:cNvSpPr/>
          <p:nvPr/>
        </p:nvSpPr>
        <p:spPr>
          <a:xfrm>
            <a:off x="3383280" y="3977640"/>
            <a:ext cx="246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Diff 50% | Alumni 40% | Major 30%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d28e80be46_0_948"/>
          <p:cNvSpPr/>
          <p:nvPr/>
        </p:nvSpPr>
        <p:spPr>
          <a:xfrm>
            <a:off x="6126480" y="2926080"/>
            <a:ext cx="2651700" cy="1737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d28e80be46_0_948"/>
          <p:cNvSpPr/>
          <p:nvPr/>
        </p:nvSpPr>
        <p:spPr>
          <a:xfrm>
            <a:off x="6126480" y="3017520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Taylor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d28e80be46_0_948"/>
          <p:cNvSpPr/>
          <p:nvPr/>
        </p:nvSpPr>
        <p:spPr>
          <a:xfrm>
            <a:off x="6126480" y="3291840"/>
            <a:ext cx="265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Business + Community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d28e80be46_0_948"/>
          <p:cNvSpPr/>
          <p:nvPr/>
        </p:nvSpPr>
        <p:spPr>
          <a:xfrm>
            <a:off x="6126480" y="3611880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Alumni 70%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d28e80be46_0_948"/>
          <p:cNvSpPr/>
          <p:nvPr/>
        </p:nvSpPr>
        <p:spPr>
          <a:xfrm>
            <a:off x="6217920" y="3977640"/>
            <a:ext cx="246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Diff 65% | Adjacent 55% | Major 35%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28e80be46_0_984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d28e80be46_0_984"/>
          <p:cNvSpPr/>
          <p:nvPr/>
        </p:nvSpPr>
        <p:spPr>
          <a:xfrm>
            <a:off x="457200" y="18288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THE KEY INSIGHT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d28e80be46_0_984"/>
          <p:cNvSpPr/>
          <p:nvPr/>
        </p:nvSpPr>
        <p:spPr>
          <a:xfrm>
            <a:off x="457200" y="6858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There's no universal "best" strategy — it depends on YOUR context.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d28e80be46_0_984"/>
          <p:cNvSpPr/>
          <p:nvPr/>
        </p:nvSpPr>
        <p:spPr>
          <a:xfrm>
            <a:off x="457200" y="1371600"/>
            <a:ext cx="8229600" cy="6402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d28e80be46_0_984"/>
          <p:cNvSpPr/>
          <p:nvPr/>
        </p:nvSpPr>
        <p:spPr>
          <a:xfrm>
            <a:off x="457200" y="1371600"/>
            <a:ext cx="73200" cy="640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d28e80be46_0_984"/>
          <p:cNvSpPr/>
          <p:nvPr/>
        </p:nvSpPr>
        <p:spPr>
          <a:xfrm>
            <a:off x="777240" y="1371600"/>
            <a:ext cx="2286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CAREER GOALS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d28e80be46_0_984"/>
          <p:cNvSpPr/>
          <p:nvPr/>
        </p:nvSpPr>
        <p:spPr>
          <a:xfrm>
            <a:off x="3200400" y="1371600"/>
            <a:ext cx="5303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Alumni &amp; weak ties work best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d28e80be46_0_984"/>
          <p:cNvSpPr/>
          <p:nvPr/>
        </p:nvSpPr>
        <p:spPr>
          <a:xfrm>
            <a:off x="457200" y="2148840"/>
            <a:ext cx="8229600" cy="6402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d28e80be46_0_984"/>
          <p:cNvSpPr/>
          <p:nvPr/>
        </p:nvSpPr>
        <p:spPr>
          <a:xfrm>
            <a:off x="457200" y="2148840"/>
            <a:ext cx="73200" cy="64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d28e80be46_0_984"/>
          <p:cNvSpPr/>
          <p:nvPr/>
        </p:nvSpPr>
        <p:spPr>
          <a:xfrm>
            <a:off x="777240" y="2148840"/>
            <a:ext cx="2286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d28e80be46_0_984"/>
          <p:cNvSpPr/>
          <p:nvPr/>
        </p:nvSpPr>
        <p:spPr>
          <a:xfrm>
            <a:off x="3200400" y="2148840"/>
            <a:ext cx="5303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Complementary skills beat similarity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d28e80be46_0_984"/>
          <p:cNvSpPr/>
          <p:nvPr/>
        </p:nvSpPr>
        <p:spPr>
          <a:xfrm>
            <a:off x="457200" y="2926080"/>
            <a:ext cx="8229600" cy="6402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d28e80be46_0_984"/>
          <p:cNvSpPr/>
          <p:nvPr/>
        </p:nvSpPr>
        <p:spPr>
          <a:xfrm>
            <a:off x="457200" y="2926080"/>
            <a:ext cx="73200" cy="640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d28e80be46_0_984"/>
          <p:cNvSpPr/>
          <p:nvPr/>
        </p:nvSpPr>
        <p:spPr>
          <a:xfrm>
            <a:off x="777240" y="2926080"/>
            <a:ext cx="2286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Trebuchet MS"/>
                <a:ea typeface="Trebuchet MS"/>
                <a:cs typeface="Trebuchet MS"/>
                <a:sym typeface="Trebuchet MS"/>
              </a:rPr>
              <a:t>RESEARCH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d28e80be46_0_984"/>
          <p:cNvSpPr/>
          <p:nvPr/>
        </p:nvSpPr>
        <p:spPr>
          <a:xfrm>
            <a:off x="3200400" y="2926080"/>
            <a:ext cx="5303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Vertical connections — grad students, faculty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d28e80be46_0_984"/>
          <p:cNvSpPr/>
          <p:nvPr/>
        </p:nvSpPr>
        <p:spPr>
          <a:xfrm>
            <a:off x="457200" y="3703320"/>
            <a:ext cx="8229600" cy="6402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d28e80be46_0_984"/>
          <p:cNvSpPr/>
          <p:nvPr/>
        </p:nvSpPr>
        <p:spPr>
          <a:xfrm>
            <a:off x="457200" y="3703320"/>
            <a:ext cx="73200" cy="64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d28e80be46_0_984"/>
          <p:cNvSpPr/>
          <p:nvPr/>
        </p:nvSpPr>
        <p:spPr>
          <a:xfrm>
            <a:off x="777240" y="3703320"/>
            <a:ext cx="2286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COMMUNITY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d28e80be46_0_984"/>
          <p:cNvSpPr/>
          <p:nvPr/>
        </p:nvSpPr>
        <p:spPr>
          <a:xfrm>
            <a:off x="3200400" y="3703320"/>
            <a:ext cx="5303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Bridging connections across groups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d28e80be46_0_98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MAB helps you efficiently learn YOUR optimal strategy — that's why LinkedIn's algorithm is personalized.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d28e80be46_0_1008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d28e80be46_0_1008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REGRET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d28e80be46_0_1008"/>
          <p:cNvSpPr/>
          <p:nvPr/>
        </p:nvSpPr>
        <p:spPr>
          <a:xfrm>
            <a:off x="457200" y="7772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Regret = gap between optimal outcome and what you actually got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regret_curves.png" id="303" name="Google Shape;303;g3d28e80be46_0_10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188720"/>
            <a:ext cx="5303518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3d28e80be46_0_1008"/>
          <p:cNvSpPr/>
          <p:nvPr/>
        </p:nvSpPr>
        <p:spPr>
          <a:xfrm>
            <a:off x="5943600" y="1280160"/>
            <a:ext cx="2743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d28e80be46_0_1008"/>
          <p:cNvSpPr/>
          <p:nvPr/>
        </p:nvSpPr>
        <p:spPr>
          <a:xfrm>
            <a:off x="5943600" y="1280160"/>
            <a:ext cx="54900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d28e80be46_0_1008"/>
          <p:cNvSpPr/>
          <p:nvPr/>
        </p:nvSpPr>
        <p:spPr>
          <a:xfrm>
            <a:off x="6172200" y="1325880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Random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d28e80be46_0_1008"/>
          <p:cNvSpPr/>
          <p:nvPr/>
        </p:nvSpPr>
        <p:spPr>
          <a:xfrm>
            <a:off x="6172200" y="1600200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O(T)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d28e80be46_0_1008"/>
          <p:cNvSpPr/>
          <p:nvPr/>
        </p:nvSpPr>
        <p:spPr>
          <a:xfrm>
            <a:off x="6172200" y="1874520"/>
            <a:ext cx="237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Linear — keeps making mistakes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d28e80be46_0_1008"/>
          <p:cNvSpPr/>
          <p:nvPr/>
        </p:nvSpPr>
        <p:spPr>
          <a:xfrm>
            <a:off x="5943600" y="2331720"/>
            <a:ext cx="2743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d28e80be46_0_1008"/>
          <p:cNvSpPr/>
          <p:nvPr/>
        </p:nvSpPr>
        <p:spPr>
          <a:xfrm>
            <a:off x="5943600" y="2331720"/>
            <a:ext cx="5490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d28e80be46_0_1008"/>
          <p:cNvSpPr/>
          <p:nvPr/>
        </p:nvSpPr>
        <p:spPr>
          <a:xfrm>
            <a:off x="6172200" y="2377440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Epsilon-Greedy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d28e80be46_0_1008"/>
          <p:cNvSpPr/>
          <p:nvPr/>
        </p:nvSpPr>
        <p:spPr>
          <a:xfrm>
            <a:off x="6172200" y="2651760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O(T^{2/3})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d28e80be46_0_1008"/>
          <p:cNvSpPr/>
          <p:nvPr/>
        </p:nvSpPr>
        <p:spPr>
          <a:xfrm>
            <a:off x="6172200" y="2926080"/>
            <a:ext cx="237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Sublinear — good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d28e80be46_0_1008"/>
          <p:cNvSpPr/>
          <p:nvPr/>
        </p:nvSpPr>
        <p:spPr>
          <a:xfrm>
            <a:off x="5943600" y="3383280"/>
            <a:ext cx="2743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d28e80be46_0_1008"/>
          <p:cNvSpPr/>
          <p:nvPr/>
        </p:nvSpPr>
        <p:spPr>
          <a:xfrm>
            <a:off x="5943600" y="3383280"/>
            <a:ext cx="5490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d28e80be46_0_1008"/>
          <p:cNvSpPr/>
          <p:nvPr/>
        </p:nvSpPr>
        <p:spPr>
          <a:xfrm>
            <a:off x="6172200" y="3429000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Thompson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d28e80be46_0_1008"/>
          <p:cNvSpPr/>
          <p:nvPr/>
        </p:nvSpPr>
        <p:spPr>
          <a:xfrm>
            <a:off x="6172200" y="3703320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O(log T)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d28e80be46_0_1008"/>
          <p:cNvSpPr/>
          <p:nvPr/>
        </p:nvSpPr>
        <p:spPr>
          <a:xfrm>
            <a:off x="6172200" y="3977640"/>
            <a:ext cx="237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Logarithmic — optimal!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28e80be46_0_1031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d28e80be46_0_1031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REAL-WORLD APPLICATIONS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d28e80be46_0_1031"/>
          <p:cNvSpPr/>
          <p:nvPr/>
        </p:nvSpPr>
        <p:spPr>
          <a:xfrm>
            <a:off x="457200" y="1051560"/>
            <a:ext cx="3931800" cy="10515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7" name="Google Shape;327;g3d28e80be46_0_10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28016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g3d28e80be46_0_1031"/>
          <p:cNvSpPr/>
          <p:nvPr/>
        </p:nvSpPr>
        <p:spPr>
          <a:xfrm>
            <a:off x="1508760" y="114300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Clinical Trials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d28e80be46_0_1031"/>
          <p:cNvSpPr/>
          <p:nvPr/>
        </p:nvSpPr>
        <p:spPr>
          <a:xfrm>
            <a:off x="1508760" y="1554480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FDA-approved adaptive treatment allocation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d28e80be46_0_1031"/>
          <p:cNvSpPr/>
          <p:nvPr/>
        </p:nvSpPr>
        <p:spPr>
          <a:xfrm>
            <a:off x="4754880" y="1051560"/>
            <a:ext cx="3931800" cy="10515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1" name="Google Shape;331;g3d28e80be46_0_10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28016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g3d28e80be46_0_1031"/>
          <p:cNvSpPr/>
          <p:nvPr/>
        </p:nvSpPr>
        <p:spPr>
          <a:xfrm>
            <a:off x="5806440" y="114300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A/B Testing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d28e80be46_0_1031"/>
          <p:cNvSpPr/>
          <p:nvPr/>
        </p:nvSpPr>
        <p:spPr>
          <a:xfrm>
            <a:off x="5806440" y="1554480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Google, Facebook, Amazon feature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d28e80be46_0_1031"/>
          <p:cNvSpPr/>
          <p:nvPr/>
        </p:nvSpPr>
        <p:spPr>
          <a:xfrm>
            <a:off x="457200" y="2331720"/>
            <a:ext cx="3931800" cy="10515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5" name="Google Shape;335;g3d28e80be46_0_10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256032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g3d28e80be46_0_1031"/>
          <p:cNvSpPr/>
          <p:nvPr/>
        </p:nvSpPr>
        <p:spPr>
          <a:xfrm>
            <a:off x="1508760" y="242316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Online Advertising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d28e80be46_0_1031"/>
          <p:cNvSpPr/>
          <p:nvPr/>
        </p:nvSpPr>
        <p:spPr>
          <a:xfrm>
            <a:off x="1508760" y="2834640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Meta ads platform — which ad creative to show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d28e80be46_0_1031"/>
          <p:cNvSpPr/>
          <p:nvPr/>
        </p:nvSpPr>
        <p:spPr>
          <a:xfrm>
            <a:off x="4754880" y="2331720"/>
            <a:ext cx="3931800" cy="10515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9" name="Google Shape;339;g3d28e80be46_0_10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3480" y="256032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g3d28e80be46_0_1031"/>
          <p:cNvSpPr/>
          <p:nvPr/>
        </p:nvSpPr>
        <p:spPr>
          <a:xfrm>
            <a:off x="5806440" y="242316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Resource Allocation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d28e80be46_0_1031"/>
          <p:cNvSpPr/>
          <p:nvPr/>
        </p:nvSpPr>
        <p:spPr>
          <a:xfrm>
            <a:off x="5806440" y="2834640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Portfolio optimization &amp; budget decisions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d28e80be46_0_1031"/>
          <p:cNvSpPr/>
          <p:nvPr/>
        </p:nvSpPr>
        <p:spPr>
          <a:xfrm>
            <a:off x="457200" y="3611880"/>
            <a:ext cx="3931800" cy="10515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3" name="Google Shape;343;g3d28e80be46_0_10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" y="384048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g3d28e80be46_0_1031"/>
          <p:cNvSpPr/>
          <p:nvPr/>
        </p:nvSpPr>
        <p:spPr>
          <a:xfrm>
            <a:off x="1508760" y="370332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Recommendations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d28e80be46_0_1031"/>
          <p:cNvSpPr/>
          <p:nvPr/>
        </p:nvSpPr>
        <p:spPr>
          <a:xfrm>
            <a:off x="1508760" y="4114800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Netflix, TikTok, YouTube — what to show next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d28e80be46_0_1031"/>
          <p:cNvSpPr/>
          <p:nvPr/>
        </p:nvSpPr>
        <p:spPr>
          <a:xfrm>
            <a:off x="4754880" y="3611880"/>
            <a:ext cx="3931800" cy="10515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7" name="Google Shape;347;g3d28e80be46_0_10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83480" y="384048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3d28e80be46_0_1031"/>
          <p:cNvSpPr/>
          <p:nvPr/>
        </p:nvSpPr>
        <p:spPr>
          <a:xfrm>
            <a:off x="5806440" y="370332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Trebuchet MS"/>
                <a:ea typeface="Trebuchet MS"/>
                <a:cs typeface="Trebuchet MS"/>
                <a:sym typeface="Trebuchet MS"/>
              </a:rPr>
              <a:t>Network Routing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d28e80be46_0_1031"/>
          <p:cNvSpPr/>
          <p:nvPr/>
        </p:nvSpPr>
        <p:spPr>
          <a:xfrm>
            <a:off x="5806440" y="4114800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AWS load balancing — which server path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d28e80be46_0_1061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d28e80be46_0_1061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WHY THIS MATTERS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3d28e80be46_0_1061"/>
          <p:cNvSpPr/>
          <p:nvPr/>
        </p:nvSpPr>
        <p:spPr>
          <a:xfrm>
            <a:off x="457200" y="960120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Real-world optimization has: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d28e80be46_0_1061"/>
          <p:cNvSpPr/>
          <p:nvPr/>
        </p:nvSpPr>
        <p:spPr>
          <a:xfrm>
            <a:off x="457200" y="1371600"/>
            <a:ext cx="4114800" cy="502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d28e80be46_0_1061"/>
          <p:cNvSpPr/>
          <p:nvPr/>
        </p:nvSpPr>
        <p:spPr>
          <a:xfrm>
            <a:off x="640080" y="1371600"/>
            <a:ext cx="3749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Unknown parameters — you don't know rates upfront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d28e80be46_0_1061"/>
          <p:cNvSpPr/>
          <p:nvPr/>
        </p:nvSpPr>
        <p:spPr>
          <a:xfrm>
            <a:off x="457200" y="1965960"/>
            <a:ext cx="4114800" cy="502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d28e80be46_0_1061"/>
          <p:cNvSpPr/>
          <p:nvPr/>
        </p:nvSpPr>
        <p:spPr>
          <a:xfrm>
            <a:off x="640080" y="1965960"/>
            <a:ext cx="3749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Limited resources — can't try everything infinitely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d28e80be46_0_1061"/>
          <p:cNvSpPr/>
          <p:nvPr/>
        </p:nvSpPr>
        <p:spPr>
          <a:xfrm>
            <a:off x="457200" y="2560320"/>
            <a:ext cx="4114800" cy="502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d28e80be46_0_1061"/>
          <p:cNvSpPr/>
          <p:nvPr/>
        </p:nvSpPr>
        <p:spPr>
          <a:xfrm>
            <a:off x="640080" y="2560320"/>
            <a:ext cx="3749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Changing conditions — preferences drift over 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d28e80be46_0_1061"/>
          <p:cNvSpPr/>
          <p:nvPr/>
        </p:nvSpPr>
        <p:spPr>
          <a:xfrm>
            <a:off x="457200" y="3154680"/>
            <a:ext cx="4114800" cy="502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d28e80be46_0_1061"/>
          <p:cNvSpPr/>
          <p:nvPr/>
        </p:nvSpPr>
        <p:spPr>
          <a:xfrm>
            <a:off x="640080" y="3154680"/>
            <a:ext cx="3749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Cost of exploration — every failed attempt has a cost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d28e80be46_0_1061"/>
          <p:cNvSpPr/>
          <p:nvPr/>
        </p:nvSpPr>
        <p:spPr>
          <a:xfrm>
            <a:off x="5029200" y="960120"/>
            <a:ext cx="3657600" cy="34746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d28e80be46_0_1061"/>
          <p:cNvSpPr/>
          <p:nvPr/>
        </p:nvSpPr>
        <p:spPr>
          <a:xfrm>
            <a:off x="5212080" y="1097280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MAB FRAMEWORK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d28e80be46_0_1061"/>
          <p:cNvSpPr/>
          <p:nvPr/>
        </p:nvSpPr>
        <p:spPr>
          <a:xfrm>
            <a:off x="5212080" y="1554480"/>
            <a:ext cx="3291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E2E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B2E2EF"/>
                </a:solidFill>
                <a:latin typeface="Calibri"/>
                <a:ea typeface="Calibri"/>
                <a:cs typeface="Calibri"/>
                <a:sym typeface="Calibri"/>
              </a:rPr>
              <a:t>A principled way to balance learning vs. earning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" name="Google Shape;369;g3d28e80be46_0_1061"/>
          <p:cNvCxnSpPr/>
          <p:nvPr/>
        </p:nvCxnSpPr>
        <p:spPr>
          <a:xfrm>
            <a:off x="5394960" y="2286000"/>
            <a:ext cx="2926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g3d28e80be46_0_1061"/>
          <p:cNvSpPr/>
          <p:nvPr/>
        </p:nvSpPr>
        <p:spPr>
          <a:xfrm>
            <a:off x="5212080" y="2468880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THOMPSON SAMPLING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d28e80be46_0_1061"/>
          <p:cNvSpPr/>
          <p:nvPr/>
        </p:nvSpPr>
        <p:spPr>
          <a:xfrm>
            <a:off x="5212080" y="2880360"/>
            <a:ext cx="3291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E2E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2E2EF"/>
                </a:solidFill>
                <a:latin typeface="Calibri"/>
                <a:ea typeface="Calibri"/>
                <a:cs typeface="Calibri"/>
                <a:sym typeface="Calibri"/>
              </a:rPr>
              <a:t>O(log T) regret</a:t>
            </a:r>
            <a:br>
              <a:rPr b="0" i="0" lang="en-US" sz="1300" u="none" cap="none" strike="noStrike">
                <a:solidFill>
                  <a:srgbClr val="B2E2E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E2E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2E2EF"/>
                </a:solidFill>
                <a:latin typeface="Calibri"/>
                <a:ea typeface="Calibri"/>
                <a:cs typeface="Calibri"/>
                <a:sym typeface="Calibri"/>
              </a:rPr>
              <a:t>Provably near-optimal</a:t>
            </a:r>
            <a:br>
              <a:rPr b="0" i="0" lang="en-US" sz="1300" u="none" cap="none" strike="noStrike">
                <a:solidFill>
                  <a:srgbClr val="B2E2E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E2E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2E2EF"/>
                </a:solidFill>
                <a:latin typeface="Calibri"/>
                <a:ea typeface="Calibri"/>
                <a:cs typeface="Calibri"/>
                <a:sym typeface="Calibri"/>
              </a:rPr>
              <a:t>Works in practice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28e80be46_0_1082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8" name="Google Shape;378;g3d28e80be46_0_10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45720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g3d28e80be46_0_1082"/>
          <p:cNvSpPr/>
          <p:nvPr/>
        </p:nvSpPr>
        <p:spPr>
          <a:xfrm>
            <a:off x="457200" y="192024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QUESTIONS?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d28e80be46_0_1082"/>
          <p:cNvSpPr/>
          <p:nvPr/>
        </p:nvSpPr>
        <p:spPr>
          <a:xfrm>
            <a:off x="1371600" y="2834640"/>
            <a:ext cx="6400800" cy="4389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d28e80be46_0_1082"/>
          <p:cNvSpPr/>
          <p:nvPr/>
        </p:nvSpPr>
        <p:spPr>
          <a:xfrm>
            <a:off x="1554480" y="2834640"/>
            <a:ext cx="6035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When is exploration unethical?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3d28e80be46_0_1082"/>
          <p:cNvSpPr/>
          <p:nvPr/>
        </p:nvSpPr>
        <p:spPr>
          <a:xfrm>
            <a:off x="1371600" y="3383280"/>
            <a:ext cx="6400800" cy="4389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d28e80be46_0_1082"/>
          <p:cNvSpPr/>
          <p:nvPr/>
        </p:nvSpPr>
        <p:spPr>
          <a:xfrm>
            <a:off x="1554480" y="3383280"/>
            <a:ext cx="6035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What if probabilities change over time?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d28e80be46_0_1082"/>
          <p:cNvSpPr/>
          <p:nvPr/>
        </p:nvSpPr>
        <p:spPr>
          <a:xfrm>
            <a:off x="1371600" y="3931920"/>
            <a:ext cx="6400800" cy="4389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d28e80be46_0_1082"/>
          <p:cNvSpPr/>
          <p:nvPr/>
        </p:nvSpPr>
        <p:spPr>
          <a:xfrm>
            <a:off x="1554480" y="3931920"/>
            <a:ext cx="6035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Where else do you see explore-exploit tradeoffs?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6" name="Google Shape;386;g3d28e80be46_0_1082"/>
          <p:cNvCxnSpPr/>
          <p:nvPr/>
        </p:nvCxnSpPr>
        <p:spPr>
          <a:xfrm>
            <a:off x="3200400" y="4526280"/>
            <a:ext cx="2743200" cy="0"/>
          </a:xfrm>
          <a:prstGeom prst="straightConnector1">
            <a:avLst/>
          </a:prstGeom>
          <a:noFill/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7" name="Google Shape;387;g3d28e80be46_0_1082"/>
          <p:cNvSpPr/>
          <p:nvPr/>
        </p:nvSpPr>
        <p:spPr>
          <a:xfrm>
            <a:off x="457200" y="466344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Lance  |  Wilson  |  Zakaria  |  Tatum  |  Kenny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2026-03-25T21:46:36Z</dcterms:created>
  <dc:creator>Lance, Wilson, Zak, Tatum, Kenny</dc:creator>
</cp:coreProperties>
</file>